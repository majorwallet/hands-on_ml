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114" d="100"/>
          <a:sy n="114" d="100"/>
        </p:scale>
        <p:origin x="47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0052676-03A7-4494-8220-603A6716A59F}"/>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566E4F2A-E5F8-4758-A205-04C3A43DEB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68107250-8231-4208-A6D3-46A7F990E6CD}"/>
              </a:ext>
            </a:extLst>
          </p:cNvPr>
          <p:cNvSpPr>
            <a:spLocks noGrp="1"/>
          </p:cNvSpPr>
          <p:nvPr>
            <p:ph type="dt" sz="half" idx="10"/>
          </p:nvPr>
        </p:nvSpPr>
        <p:spPr/>
        <p:txBody>
          <a:bodyPr/>
          <a:lstStyle/>
          <a:p>
            <a:fld id="{879262EA-21DB-4DB0-916D-34828C66D19F}" type="datetimeFigureOut">
              <a:rPr lang="ko-KR" altLang="en-US" smtClean="0"/>
              <a:t>2022-04-18</a:t>
            </a:fld>
            <a:endParaRPr lang="ko-KR" altLang="en-US"/>
          </a:p>
        </p:txBody>
      </p:sp>
      <p:sp>
        <p:nvSpPr>
          <p:cNvPr id="5" name="바닥글 개체 틀 4">
            <a:extLst>
              <a:ext uri="{FF2B5EF4-FFF2-40B4-BE49-F238E27FC236}">
                <a16:creationId xmlns:a16="http://schemas.microsoft.com/office/drawing/2014/main" id="{49B8DFD2-2561-4AD9-951D-98F9C980F4BC}"/>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7300B64-33B1-4A50-BC8A-24D739B27782}"/>
              </a:ext>
            </a:extLst>
          </p:cNvPr>
          <p:cNvSpPr>
            <a:spLocks noGrp="1"/>
          </p:cNvSpPr>
          <p:nvPr>
            <p:ph type="sldNum" sz="quarter" idx="12"/>
          </p:nvPr>
        </p:nvSpPr>
        <p:spPr/>
        <p:txBody>
          <a:bodyPr/>
          <a:lstStyle/>
          <a:p>
            <a:fld id="{9D043324-6214-4BB8-A204-1D54B71539CE}" type="slidenum">
              <a:rPr lang="ko-KR" altLang="en-US" smtClean="0"/>
              <a:t>‹#›</a:t>
            </a:fld>
            <a:endParaRPr lang="ko-KR" altLang="en-US"/>
          </a:p>
        </p:txBody>
      </p:sp>
    </p:spTree>
    <p:extLst>
      <p:ext uri="{BB962C8B-B14F-4D97-AF65-F5344CB8AC3E}">
        <p14:creationId xmlns:p14="http://schemas.microsoft.com/office/powerpoint/2010/main" val="2464261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86B6F8C-4628-49A5-BBAE-67C8A0C6F716}"/>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B2BDC2E5-A6FE-4BA6-8668-1AA465E9CF98}"/>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FFE9CAE-D2DE-4B26-A9FC-C384AC95ADFB}"/>
              </a:ext>
            </a:extLst>
          </p:cNvPr>
          <p:cNvSpPr>
            <a:spLocks noGrp="1"/>
          </p:cNvSpPr>
          <p:nvPr>
            <p:ph type="dt" sz="half" idx="10"/>
          </p:nvPr>
        </p:nvSpPr>
        <p:spPr/>
        <p:txBody>
          <a:bodyPr/>
          <a:lstStyle/>
          <a:p>
            <a:fld id="{879262EA-21DB-4DB0-916D-34828C66D19F}" type="datetimeFigureOut">
              <a:rPr lang="ko-KR" altLang="en-US" smtClean="0"/>
              <a:t>2022-04-18</a:t>
            </a:fld>
            <a:endParaRPr lang="ko-KR" altLang="en-US"/>
          </a:p>
        </p:txBody>
      </p:sp>
      <p:sp>
        <p:nvSpPr>
          <p:cNvPr id="5" name="바닥글 개체 틀 4">
            <a:extLst>
              <a:ext uri="{FF2B5EF4-FFF2-40B4-BE49-F238E27FC236}">
                <a16:creationId xmlns:a16="http://schemas.microsoft.com/office/drawing/2014/main" id="{2050AA17-A1CA-4329-A0D8-8FA6F988A9E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383E332-394B-428B-B3B2-00F1166F8A8B}"/>
              </a:ext>
            </a:extLst>
          </p:cNvPr>
          <p:cNvSpPr>
            <a:spLocks noGrp="1"/>
          </p:cNvSpPr>
          <p:nvPr>
            <p:ph type="sldNum" sz="quarter" idx="12"/>
          </p:nvPr>
        </p:nvSpPr>
        <p:spPr/>
        <p:txBody>
          <a:bodyPr/>
          <a:lstStyle/>
          <a:p>
            <a:fld id="{9D043324-6214-4BB8-A204-1D54B71539CE}" type="slidenum">
              <a:rPr lang="ko-KR" altLang="en-US" smtClean="0"/>
              <a:t>‹#›</a:t>
            </a:fld>
            <a:endParaRPr lang="ko-KR" altLang="en-US"/>
          </a:p>
        </p:txBody>
      </p:sp>
    </p:spTree>
    <p:extLst>
      <p:ext uri="{BB962C8B-B14F-4D97-AF65-F5344CB8AC3E}">
        <p14:creationId xmlns:p14="http://schemas.microsoft.com/office/powerpoint/2010/main" val="1060122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F86DBB3-2150-46F7-B997-C4EA76496BDB}"/>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4F82C8F2-6FA7-4A79-A98A-665AE1EA5C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26F2B45-ECF5-44B6-9B53-F368B62B8376}"/>
              </a:ext>
            </a:extLst>
          </p:cNvPr>
          <p:cNvSpPr>
            <a:spLocks noGrp="1"/>
          </p:cNvSpPr>
          <p:nvPr>
            <p:ph type="dt" sz="half" idx="10"/>
          </p:nvPr>
        </p:nvSpPr>
        <p:spPr/>
        <p:txBody>
          <a:bodyPr/>
          <a:lstStyle/>
          <a:p>
            <a:fld id="{879262EA-21DB-4DB0-916D-34828C66D19F}" type="datetimeFigureOut">
              <a:rPr lang="ko-KR" altLang="en-US" smtClean="0"/>
              <a:t>2022-04-18</a:t>
            </a:fld>
            <a:endParaRPr lang="ko-KR" altLang="en-US"/>
          </a:p>
        </p:txBody>
      </p:sp>
      <p:sp>
        <p:nvSpPr>
          <p:cNvPr id="5" name="바닥글 개체 틀 4">
            <a:extLst>
              <a:ext uri="{FF2B5EF4-FFF2-40B4-BE49-F238E27FC236}">
                <a16:creationId xmlns:a16="http://schemas.microsoft.com/office/drawing/2014/main" id="{D63BE3CD-6E13-44D2-B15D-82B50FB2C61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60159F9-197E-4AB5-BBB0-784DCDBB7DC0}"/>
              </a:ext>
            </a:extLst>
          </p:cNvPr>
          <p:cNvSpPr>
            <a:spLocks noGrp="1"/>
          </p:cNvSpPr>
          <p:nvPr>
            <p:ph type="sldNum" sz="quarter" idx="12"/>
          </p:nvPr>
        </p:nvSpPr>
        <p:spPr/>
        <p:txBody>
          <a:bodyPr/>
          <a:lstStyle/>
          <a:p>
            <a:fld id="{9D043324-6214-4BB8-A204-1D54B71539CE}" type="slidenum">
              <a:rPr lang="ko-KR" altLang="en-US" smtClean="0"/>
              <a:t>‹#›</a:t>
            </a:fld>
            <a:endParaRPr lang="ko-KR" altLang="en-US"/>
          </a:p>
        </p:txBody>
      </p:sp>
    </p:spTree>
    <p:extLst>
      <p:ext uri="{BB962C8B-B14F-4D97-AF65-F5344CB8AC3E}">
        <p14:creationId xmlns:p14="http://schemas.microsoft.com/office/powerpoint/2010/main" val="4137668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8798410-1105-4505-A890-52C18D69708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4A105EE-4DDB-415E-BE7D-C3CCB24F6117}"/>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100C2DB-0E8B-46FE-AD53-8F600F6E74D8}"/>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3DB7ECE3-5ADA-4427-AF17-22238A5C2385}"/>
              </a:ext>
            </a:extLst>
          </p:cNvPr>
          <p:cNvSpPr>
            <a:spLocks noGrp="1"/>
          </p:cNvSpPr>
          <p:nvPr>
            <p:ph type="dt" sz="half" idx="10"/>
          </p:nvPr>
        </p:nvSpPr>
        <p:spPr/>
        <p:txBody>
          <a:bodyPr/>
          <a:lstStyle/>
          <a:p>
            <a:fld id="{879262EA-21DB-4DB0-916D-34828C66D19F}" type="datetimeFigureOut">
              <a:rPr lang="ko-KR" altLang="en-US" smtClean="0"/>
              <a:t>2022-04-18</a:t>
            </a:fld>
            <a:endParaRPr lang="ko-KR" altLang="en-US"/>
          </a:p>
        </p:txBody>
      </p:sp>
      <p:sp>
        <p:nvSpPr>
          <p:cNvPr id="6" name="바닥글 개체 틀 5">
            <a:extLst>
              <a:ext uri="{FF2B5EF4-FFF2-40B4-BE49-F238E27FC236}">
                <a16:creationId xmlns:a16="http://schemas.microsoft.com/office/drawing/2014/main" id="{EB921EFB-BECA-4652-B30E-964D493B37B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14CFD4AE-4AE4-435C-8977-885FA81E7C42}"/>
              </a:ext>
            </a:extLst>
          </p:cNvPr>
          <p:cNvSpPr>
            <a:spLocks noGrp="1"/>
          </p:cNvSpPr>
          <p:nvPr>
            <p:ph type="sldNum" sz="quarter" idx="12"/>
          </p:nvPr>
        </p:nvSpPr>
        <p:spPr/>
        <p:txBody>
          <a:bodyPr/>
          <a:lstStyle/>
          <a:p>
            <a:fld id="{9D043324-6214-4BB8-A204-1D54B71539CE}" type="slidenum">
              <a:rPr lang="ko-KR" altLang="en-US" smtClean="0"/>
              <a:t>‹#›</a:t>
            </a:fld>
            <a:endParaRPr lang="ko-KR" altLang="en-US"/>
          </a:p>
        </p:txBody>
      </p:sp>
    </p:spTree>
    <p:extLst>
      <p:ext uri="{BB962C8B-B14F-4D97-AF65-F5344CB8AC3E}">
        <p14:creationId xmlns:p14="http://schemas.microsoft.com/office/powerpoint/2010/main" val="1292221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75FDBFF-1A7B-4A5B-8575-DD447D8C2C63}"/>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7B8FF2DD-D7B5-47F4-B7E0-21EDBF1369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4B831E5C-DA79-41BD-87A0-76965E73DD1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2E994730-2BB5-40DA-B091-3FBC310634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1ECCFC79-2FF4-45D4-8A79-C2965A48DA5F}"/>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2954BFAF-C04C-4360-9A33-C4C724EB00E8}"/>
              </a:ext>
            </a:extLst>
          </p:cNvPr>
          <p:cNvSpPr>
            <a:spLocks noGrp="1"/>
          </p:cNvSpPr>
          <p:nvPr>
            <p:ph type="dt" sz="half" idx="10"/>
          </p:nvPr>
        </p:nvSpPr>
        <p:spPr/>
        <p:txBody>
          <a:bodyPr/>
          <a:lstStyle/>
          <a:p>
            <a:fld id="{879262EA-21DB-4DB0-916D-34828C66D19F}" type="datetimeFigureOut">
              <a:rPr lang="ko-KR" altLang="en-US" smtClean="0"/>
              <a:t>2022-04-18</a:t>
            </a:fld>
            <a:endParaRPr lang="ko-KR" altLang="en-US"/>
          </a:p>
        </p:txBody>
      </p:sp>
      <p:sp>
        <p:nvSpPr>
          <p:cNvPr id="8" name="바닥글 개체 틀 7">
            <a:extLst>
              <a:ext uri="{FF2B5EF4-FFF2-40B4-BE49-F238E27FC236}">
                <a16:creationId xmlns:a16="http://schemas.microsoft.com/office/drawing/2014/main" id="{5A132A53-1F27-4828-9E03-3B1C8470CC37}"/>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3622792C-7221-4AC7-949D-D0DC0FF27329}"/>
              </a:ext>
            </a:extLst>
          </p:cNvPr>
          <p:cNvSpPr>
            <a:spLocks noGrp="1"/>
          </p:cNvSpPr>
          <p:nvPr>
            <p:ph type="sldNum" sz="quarter" idx="12"/>
          </p:nvPr>
        </p:nvSpPr>
        <p:spPr/>
        <p:txBody>
          <a:bodyPr/>
          <a:lstStyle/>
          <a:p>
            <a:fld id="{9D043324-6214-4BB8-A204-1D54B71539CE}" type="slidenum">
              <a:rPr lang="ko-KR" altLang="en-US" smtClean="0"/>
              <a:t>‹#›</a:t>
            </a:fld>
            <a:endParaRPr lang="ko-KR" altLang="en-US"/>
          </a:p>
        </p:txBody>
      </p:sp>
    </p:spTree>
    <p:extLst>
      <p:ext uri="{BB962C8B-B14F-4D97-AF65-F5344CB8AC3E}">
        <p14:creationId xmlns:p14="http://schemas.microsoft.com/office/powerpoint/2010/main" val="3234690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350939-022E-4BAE-958A-EB83CB50B36E}"/>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48E6EE5E-408F-4E97-A4E4-0D7B37F7BC84}"/>
              </a:ext>
            </a:extLst>
          </p:cNvPr>
          <p:cNvSpPr>
            <a:spLocks noGrp="1"/>
          </p:cNvSpPr>
          <p:nvPr>
            <p:ph type="dt" sz="half" idx="10"/>
          </p:nvPr>
        </p:nvSpPr>
        <p:spPr/>
        <p:txBody>
          <a:bodyPr/>
          <a:lstStyle/>
          <a:p>
            <a:fld id="{879262EA-21DB-4DB0-916D-34828C66D19F}" type="datetimeFigureOut">
              <a:rPr lang="ko-KR" altLang="en-US" smtClean="0"/>
              <a:t>2022-04-18</a:t>
            </a:fld>
            <a:endParaRPr lang="ko-KR" altLang="en-US"/>
          </a:p>
        </p:txBody>
      </p:sp>
      <p:sp>
        <p:nvSpPr>
          <p:cNvPr id="4" name="바닥글 개체 틀 3">
            <a:extLst>
              <a:ext uri="{FF2B5EF4-FFF2-40B4-BE49-F238E27FC236}">
                <a16:creationId xmlns:a16="http://schemas.microsoft.com/office/drawing/2014/main" id="{9BCDCA82-0CBA-4B77-9992-5BCF7D3AE3E7}"/>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8F520472-E617-4587-9ABE-7C978A3FA27B}"/>
              </a:ext>
            </a:extLst>
          </p:cNvPr>
          <p:cNvSpPr>
            <a:spLocks noGrp="1"/>
          </p:cNvSpPr>
          <p:nvPr>
            <p:ph type="sldNum" sz="quarter" idx="12"/>
          </p:nvPr>
        </p:nvSpPr>
        <p:spPr/>
        <p:txBody>
          <a:bodyPr/>
          <a:lstStyle/>
          <a:p>
            <a:fld id="{9D043324-6214-4BB8-A204-1D54B71539CE}" type="slidenum">
              <a:rPr lang="ko-KR" altLang="en-US" smtClean="0"/>
              <a:t>‹#›</a:t>
            </a:fld>
            <a:endParaRPr lang="ko-KR" altLang="en-US"/>
          </a:p>
        </p:txBody>
      </p:sp>
    </p:spTree>
    <p:extLst>
      <p:ext uri="{BB962C8B-B14F-4D97-AF65-F5344CB8AC3E}">
        <p14:creationId xmlns:p14="http://schemas.microsoft.com/office/powerpoint/2010/main" val="2048977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D6837FD4-6196-40F1-82C6-16AE2A68A04E}"/>
              </a:ext>
            </a:extLst>
          </p:cNvPr>
          <p:cNvSpPr>
            <a:spLocks noGrp="1"/>
          </p:cNvSpPr>
          <p:nvPr>
            <p:ph type="dt" sz="half" idx="10"/>
          </p:nvPr>
        </p:nvSpPr>
        <p:spPr/>
        <p:txBody>
          <a:bodyPr/>
          <a:lstStyle/>
          <a:p>
            <a:fld id="{879262EA-21DB-4DB0-916D-34828C66D19F}" type="datetimeFigureOut">
              <a:rPr lang="ko-KR" altLang="en-US" smtClean="0"/>
              <a:t>2022-04-18</a:t>
            </a:fld>
            <a:endParaRPr lang="ko-KR" altLang="en-US"/>
          </a:p>
        </p:txBody>
      </p:sp>
      <p:sp>
        <p:nvSpPr>
          <p:cNvPr id="3" name="바닥글 개체 틀 2">
            <a:extLst>
              <a:ext uri="{FF2B5EF4-FFF2-40B4-BE49-F238E27FC236}">
                <a16:creationId xmlns:a16="http://schemas.microsoft.com/office/drawing/2014/main" id="{17457547-59CB-4F2C-AB5E-C979E565E8D5}"/>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3FDE8183-3314-46D5-B2F0-E27096F3504B}"/>
              </a:ext>
            </a:extLst>
          </p:cNvPr>
          <p:cNvSpPr>
            <a:spLocks noGrp="1"/>
          </p:cNvSpPr>
          <p:nvPr>
            <p:ph type="sldNum" sz="quarter" idx="12"/>
          </p:nvPr>
        </p:nvSpPr>
        <p:spPr/>
        <p:txBody>
          <a:bodyPr/>
          <a:lstStyle/>
          <a:p>
            <a:fld id="{9D043324-6214-4BB8-A204-1D54B71539CE}" type="slidenum">
              <a:rPr lang="ko-KR" altLang="en-US" smtClean="0"/>
              <a:t>‹#›</a:t>
            </a:fld>
            <a:endParaRPr lang="ko-KR" altLang="en-US"/>
          </a:p>
        </p:txBody>
      </p:sp>
    </p:spTree>
    <p:extLst>
      <p:ext uri="{BB962C8B-B14F-4D97-AF65-F5344CB8AC3E}">
        <p14:creationId xmlns:p14="http://schemas.microsoft.com/office/powerpoint/2010/main" val="2468923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454A337-EC06-4083-84E6-49E926CB370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C1BE0D82-E210-4530-B897-47351C110B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5654DDB1-E0C0-40A0-BF40-F7A2EDB40D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C095F52-5D88-41F4-BC0D-1826AD35EA2D}"/>
              </a:ext>
            </a:extLst>
          </p:cNvPr>
          <p:cNvSpPr>
            <a:spLocks noGrp="1"/>
          </p:cNvSpPr>
          <p:nvPr>
            <p:ph type="dt" sz="half" idx="10"/>
          </p:nvPr>
        </p:nvSpPr>
        <p:spPr/>
        <p:txBody>
          <a:bodyPr/>
          <a:lstStyle/>
          <a:p>
            <a:fld id="{879262EA-21DB-4DB0-916D-34828C66D19F}" type="datetimeFigureOut">
              <a:rPr lang="ko-KR" altLang="en-US" smtClean="0"/>
              <a:t>2022-04-18</a:t>
            </a:fld>
            <a:endParaRPr lang="ko-KR" altLang="en-US"/>
          </a:p>
        </p:txBody>
      </p:sp>
      <p:sp>
        <p:nvSpPr>
          <p:cNvPr id="6" name="바닥글 개체 틀 5">
            <a:extLst>
              <a:ext uri="{FF2B5EF4-FFF2-40B4-BE49-F238E27FC236}">
                <a16:creationId xmlns:a16="http://schemas.microsoft.com/office/drawing/2014/main" id="{1B4D445F-570B-4503-8C1F-BEBAE9E1616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BB91418B-C43A-465B-949A-DD34619EA7B3}"/>
              </a:ext>
            </a:extLst>
          </p:cNvPr>
          <p:cNvSpPr>
            <a:spLocks noGrp="1"/>
          </p:cNvSpPr>
          <p:nvPr>
            <p:ph type="sldNum" sz="quarter" idx="12"/>
          </p:nvPr>
        </p:nvSpPr>
        <p:spPr/>
        <p:txBody>
          <a:bodyPr/>
          <a:lstStyle/>
          <a:p>
            <a:fld id="{9D043324-6214-4BB8-A204-1D54B71539CE}" type="slidenum">
              <a:rPr lang="ko-KR" altLang="en-US" smtClean="0"/>
              <a:t>‹#›</a:t>
            </a:fld>
            <a:endParaRPr lang="ko-KR" altLang="en-US"/>
          </a:p>
        </p:txBody>
      </p:sp>
    </p:spTree>
    <p:extLst>
      <p:ext uri="{BB962C8B-B14F-4D97-AF65-F5344CB8AC3E}">
        <p14:creationId xmlns:p14="http://schemas.microsoft.com/office/powerpoint/2010/main" val="4017357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5499227-F82F-4CC9-A7B5-E0AB6ADB3156}"/>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BE4489A1-E442-436D-88BA-7373EEE72D2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CA404A9B-2435-42D1-85D6-B40916713F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6BAE287D-A3EE-4F91-A6FD-2C2A2FE3356B}"/>
              </a:ext>
            </a:extLst>
          </p:cNvPr>
          <p:cNvSpPr>
            <a:spLocks noGrp="1"/>
          </p:cNvSpPr>
          <p:nvPr>
            <p:ph type="dt" sz="half" idx="10"/>
          </p:nvPr>
        </p:nvSpPr>
        <p:spPr/>
        <p:txBody>
          <a:bodyPr/>
          <a:lstStyle/>
          <a:p>
            <a:fld id="{879262EA-21DB-4DB0-916D-34828C66D19F}" type="datetimeFigureOut">
              <a:rPr lang="ko-KR" altLang="en-US" smtClean="0"/>
              <a:t>2022-04-18</a:t>
            </a:fld>
            <a:endParaRPr lang="ko-KR" altLang="en-US"/>
          </a:p>
        </p:txBody>
      </p:sp>
      <p:sp>
        <p:nvSpPr>
          <p:cNvPr id="6" name="바닥글 개체 틀 5">
            <a:extLst>
              <a:ext uri="{FF2B5EF4-FFF2-40B4-BE49-F238E27FC236}">
                <a16:creationId xmlns:a16="http://schemas.microsoft.com/office/drawing/2014/main" id="{54C8D27A-F147-4766-B69A-81F5CF186A5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B536D96-6034-42CA-8894-0A1E117E8C07}"/>
              </a:ext>
            </a:extLst>
          </p:cNvPr>
          <p:cNvSpPr>
            <a:spLocks noGrp="1"/>
          </p:cNvSpPr>
          <p:nvPr>
            <p:ph type="sldNum" sz="quarter" idx="12"/>
          </p:nvPr>
        </p:nvSpPr>
        <p:spPr/>
        <p:txBody>
          <a:bodyPr/>
          <a:lstStyle/>
          <a:p>
            <a:fld id="{9D043324-6214-4BB8-A204-1D54B71539CE}" type="slidenum">
              <a:rPr lang="ko-KR" altLang="en-US" smtClean="0"/>
              <a:t>‹#›</a:t>
            </a:fld>
            <a:endParaRPr lang="ko-KR" altLang="en-US"/>
          </a:p>
        </p:txBody>
      </p:sp>
    </p:spTree>
    <p:extLst>
      <p:ext uri="{BB962C8B-B14F-4D97-AF65-F5344CB8AC3E}">
        <p14:creationId xmlns:p14="http://schemas.microsoft.com/office/powerpoint/2010/main" val="1382140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C14C460-E794-437F-B401-FD7D45A9877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6E350FAC-C7F9-406F-BDFE-6ABB0753A9C4}"/>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16CD4A5E-4075-4B48-AA18-169BBEB45319}"/>
              </a:ext>
            </a:extLst>
          </p:cNvPr>
          <p:cNvSpPr>
            <a:spLocks noGrp="1"/>
          </p:cNvSpPr>
          <p:nvPr>
            <p:ph type="dt" sz="half" idx="10"/>
          </p:nvPr>
        </p:nvSpPr>
        <p:spPr/>
        <p:txBody>
          <a:bodyPr/>
          <a:lstStyle/>
          <a:p>
            <a:fld id="{879262EA-21DB-4DB0-916D-34828C66D19F}" type="datetimeFigureOut">
              <a:rPr lang="ko-KR" altLang="en-US" smtClean="0"/>
              <a:t>2022-04-18</a:t>
            </a:fld>
            <a:endParaRPr lang="ko-KR" altLang="en-US"/>
          </a:p>
        </p:txBody>
      </p:sp>
      <p:sp>
        <p:nvSpPr>
          <p:cNvPr id="5" name="바닥글 개체 틀 4">
            <a:extLst>
              <a:ext uri="{FF2B5EF4-FFF2-40B4-BE49-F238E27FC236}">
                <a16:creationId xmlns:a16="http://schemas.microsoft.com/office/drawing/2014/main" id="{278B2A27-809A-460E-95EA-8352782CA88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488DB71-F657-484E-AAA8-0D17E849BC64}"/>
              </a:ext>
            </a:extLst>
          </p:cNvPr>
          <p:cNvSpPr>
            <a:spLocks noGrp="1"/>
          </p:cNvSpPr>
          <p:nvPr>
            <p:ph type="sldNum" sz="quarter" idx="12"/>
          </p:nvPr>
        </p:nvSpPr>
        <p:spPr/>
        <p:txBody>
          <a:bodyPr/>
          <a:lstStyle/>
          <a:p>
            <a:fld id="{9D043324-6214-4BB8-A204-1D54B71539CE}" type="slidenum">
              <a:rPr lang="ko-KR" altLang="en-US" smtClean="0"/>
              <a:t>‹#›</a:t>
            </a:fld>
            <a:endParaRPr lang="ko-KR" altLang="en-US"/>
          </a:p>
        </p:txBody>
      </p:sp>
    </p:spTree>
    <p:extLst>
      <p:ext uri="{BB962C8B-B14F-4D97-AF65-F5344CB8AC3E}">
        <p14:creationId xmlns:p14="http://schemas.microsoft.com/office/powerpoint/2010/main" val="1706413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C4494DE-EDA8-4603-84DB-D480BD9F4B17}"/>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DC021FBD-77B5-4A87-868A-E75B0FD2B47F}"/>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AD60140-6899-4799-926E-81BBAA80FA85}"/>
              </a:ext>
            </a:extLst>
          </p:cNvPr>
          <p:cNvSpPr>
            <a:spLocks noGrp="1"/>
          </p:cNvSpPr>
          <p:nvPr>
            <p:ph type="dt" sz="half" idx="10"/>
          </p:nvPr>
        </p:nvSpPr>
        <p:spPr/>
        <p:txBody>
          <a:bodyPr/>
          <a:lstStyle/>
          <a:p>
            <a:fld id="{879262EA-21DB-4DB0-916D-34828C66D19F}" type="datetimeFigureOut">
              <a:rPr lang="ko-KR" altLang="en-US" smtClean="0"/>
              <a:t>2022-04-18</a:t>
            </a:fld>
            <a:endParaRPr lang="ko-KR" altLang="en-US"/>
          </a:p>
        </p:txBody>
      </p:sp>
      <p:sp>
        <p:nvSpPr>
          <p:cNvPr id="5" name="바닥글 개체 틀 4">
            <a:extLst>
              <a:ext uri="{FF2B5EF4-FFF2-40B4-BE49-F238E27FC236}">
                <a16:creationId xmlns:a16="http://schemas.microsoft.com/office/drawing/2014/main" id="{300F937D-6150-435A-82DF-E72BBDB1AAC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E84E78C-489C-4CC1-81B1-03958DF06D6A}"/>
              </a:ext>
            </a:extLst>
          </p:cNvPr>
          <p:cNvSpPr>
            <a:spLocks noGrp="1"/>
          </p:cNvSpPr>
          <p:nvPr>
            <p:ph type="sldNum" sz="quarter" idx="12"/>
          </p:nvPr>
        </p:nvSpPr>
        <p:spPr/>
        <p:txBody>
          <a:bodyPr/>
          <a:lstStyle/>
          <a:p>
            <a:fld id="{9D043324-6214-4BB8-A204-1D54B71539CE}" type="slidenum">
              <a:rPr lang="ko-KR" altLang="en-US" smtClean="0"/>
              <a:t>‹#›</a:t>
            </a:fld>
            <a:endParaRPr lang="ko-KR" altLang="en-US"/>
          </a:p>
        </p:txBody>
      </p:sp>
    </p:spTree>
    <p:extLst>
      <p:ext uri="{BB962C8B-B14F-4D97-AF65-F5344CB8AC3E}">
        <p14:creationId xmlns:p14="http://schemas.microsoft.com/office/powerpoint/2010/main" val="31073008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957DDB57-D216-4456-B559-FE38A44BC4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4426D341-5956-428D-8BC4-BB68DA31D9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5FE87678-5E8E-4C63-AADC-64E9652087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9262EA-21DB-4DB0-916D-34828C66D19F}" type="datetimeFigureOut">
              <a:rPr lang="ko-KR" altLang="en-US" smtClean="0"/>
              <a:t>2022-04-18</a:t>
            </a:fld>
            <a:endParaRPr lang="ko-KR" altLang="en-US"/>
          </a:p>
        </p:txBody>
      </p:sp>
      <p:sp>
        <p:nvSpPr>
          <p:cNvPr id="5" name="바닥글 개체 틀 4">
            <a:extLst>
              <a:ext uri="{FF2B5EF4-FFF2-40B4-BE49-F238E27FC236}">
                <a16:creationId xmlns:a16="http://schemas.microsoft.com/office/drawing/2014/main" id="{D68D28C4-EC6A-4305-9729-43D14AE0E2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9E36B389-65AC-439C-BF81-C0102E780B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043324-6214-4BB8-A204-1D54B71539CE}" type="slidenum">
              <a:rPr lang="ko-KR" altLang="en-US" smtClean="0"/>
              <a:t>‹#›</a:t>
            </a:fld>
            <a:endParaRPr lang="ko-KR" altLang="en-US"/>
          </a:p>
        </p:txBody>
      </p:sp>
    </p:spTree>
    <p:extLst>
      <p:ext uri="{BB962C8B-B14F-4D97-AF65-F5344CB8AC3E}">
        <p14:creationId xmlns:p14="http://schemas.microsoft.com/office/powerpoint/2010/main" val="1549578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906FE0-3A26-4C3B-A712-C7B581D30D21}"/>
              </a:ext>
            </a:extLst>
          </p:cNvPr>
          <p:cNvSpPr>
            <a:spLocks noGrp="1"/>
          </p:cNvSpPr>
          <p:nvPr>
            <p:ph type="ctrTitle"/>
          </p:nvPr>
        </p:nvSpPr>
        <p:spPr/>
        <p:txBody>
          <a:bodyPr/>
          <a:lstStyle/>
          <a:p>
            <a:r>
              <a:rPr lang="en-US" altLang="ko-KR" dirty="0"/>
              <a:t>Machine Learning</a:t>
            </a:r>
            <a:endParaRPr lang="ko-KR" altLang="en-US" dirty="0"/>
          </a:p>
        </p:txBody>
      </p:sp>
      <p:sp>
        <p:nvSpPr>
          <p:cNvPr id="3" name="부제목 2">
            <a:extLst>
              <a:ext uri="{FF2B5EF4-FFF2-40B4-BE49-F238E27FC236}">
                <a16:creationId xmlns:a16="http://schemas.microsoft.com/office/drawing/2014/main" id="{C36EDA64-6947-4F53-A8C6-7C9D535A402A}"/>
              </a:ext>
            </a:extLst>
          </p:cNvPr>
          <p:cNvSpPr>
            <a:spLocks noGrp="1"/>
          </p:cNvSpPr>
          <p:nvPr>
            <p:ph type="subTitle" idx="1"/>
          </p:nvPr>
        </p:nvSpPr>
        <p:spPr/>
        <p:txBody>
          <a:bodyPr/>
          <a:lstStyle/>
          <a:p>
            <a:r>
              <a:rPr lang="en-US" altLang="ko-KR" dirty="0"/>
              <a:t>Machine Learning at a Glance</a:t>
            </a:r>
            <a:endParaRPr lang="ko-KR" altLang="en-US" dirty="0"/>
          </a:p>
        </p:txBody>
      </p:sp>
      <p:pic>
        <p:nvPicPr>
          <p:cNvPr id="4" name="그림 3">
            <a:extLst>
              <a:ext uri="{FF2B5EF4-FFF2-40B4-BE49-F238E27FC236}">
                <a16:creationId xmlns:a16="http://schemas.microsoft.com/office/drawing/2014/main" id="{5B6072E9-6B37-4D04-B707-669CCDB428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CAC24695-14D1-48AA-BCB0-868138029690}"/>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633626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FAEF75A-C84E-4210-9C31-A4AA38EE5CCC}"/>
              </a:ext>
            </a:extLst>
          </p:cNvPr>
          <p:cNvSpPr>
            <a:spLocks noGrp="1"/>
          </p:cNvSpPr>
          <p:nvPr>
            <p:ph type="title"/>
          </p:nvPr>
        </p:nvSpPr>
        <p:spPr/>
        <p:txBody>
          <a:bodyPr/>
          <a:lstStyle/>
          <a:p>
            <a:r>
              <a:rPr lang="en-US" altLang="ko-KR" dirty="0"/>
              <a:t>Machine Learning’s definition</a:t>
            </a:r>
            <a:endParaRPr lang="ko-KR" altLang="en-US" dirty="0"/>
          </a:p>
        </p:txBody>
      </p:sp>
      <p:sp>
        <p:nvSpPr>
          <p:cNvPr id="3" name="내용 개체 틀 2">
            <a:extLst>
              <a:ext uri="{FF2B5EF4-FFF2-40B4-BE49-F238E27FC236}">
                <a16:creationId xmlns:a16="http://schemas.microsoft.com/office/drawing/2014/main" id="{7356D0AA-1AEB-4255-8E9F-4374DC5E4962}"/>
              </a:ext>
            </a:extLst>
          </p:cNvPr>
          <p:cNvSpPr>
            <a:spLocks noGrp="1"/>
          </p:cNvSpPr>
          <p:nvPr>
            <p:ph idx="1"/>
          </p:nvPr>
        </p:nvSpPr>
        <p:spPr/>
        <p:txBody>
          <a:bodyPr/>
          <a:lstStyle/>
          <a:p>
            <a:r>
              <a:rPr lang="en-US" altLang="ko-KR" b="0" i="0" dirty="0">
                <a:solidFill>
                  <a:srgbClr val="000000"/>
                </a:solidFill>
                <a:effectLst/>
              </a:rPr>
              <a:t>It is a research field that allows computers to have the ability to learn without explicit programming.</a:t>
            </a:r>
          </a:p>
          <a:p>
            <a:r>
              <a:rPr lang="en-US" altLang="ko-KR" b="0" i="0" dirty="0">
                <a:solidFill>
                  <a:srgbClr val="000000"/>
                </a:solidFill>
                <a:effectLst/>
              </a:rPr>
              <a:t>If the performance of a computer program on a dataset T was improved by experience E when the accuracy of a computer program on a dataset T was measured as P, this computer program learned about data T and accuracy P by experience E.</a:t>
            </a:r>
          </a:p>
          <a:p>
            <a:r>
              <a:rPr lang="en-US" altLang="ko-KR" dirty="0">
                <a:solidFill>
                  <a:srgbClr val="000000"/>
                </a:solidFill>
              </a:rPr>
              <a:t>Training set: </a:t>
            </a:r>
            <a:r>
              <a:rPr lang="en-US" altLang="ko-KR" b="0" i="0" dirty="0">
                <a:solidFill>
                  <a:srgbClr val="000000"/>
                </a:solidFill>
                <a:effectLst/>
              </a:rPr>
              <a:t>Samples used by the system to learn</a:t>
            </a:r>
            <a:endParaRPr lang="en-US" altLang="ko-KR" dirty="0">
              <a:solidFill>
                <a:srgbClr val="000000"/>
              </a:solidFill>
            </a:endParaRPr>
          </a:p>
          <a:p>
            <a:r>
              <a:rPr lang="en-US" altLang="ko-KR" dirty="0">
                <a:solidFill>
                  <a:srgbClr val="000000"/>
                </a:solidFill>
              </a:rPr>
              <a:t>Training instance: Each training data</a:t>
            </a:r>
          </a:p>
          <a:p>
            <a:endParaRPr lang="ko-KR" altLang="en-US" dirty="0"/>
          </a:p>
        </p:txBody>
      </p:sp>
      <p:pic>
        <p:nvPicPr>
          <p:cNvPr id="4" name="그림 3">
            <a:extLst>
              <a:ext uri="{FF2B5EF4-FFF2-40B4-BE49-F238E27FC236}">
                <a16:creationId xmlns:a16="http://schemas.microsoft.com/office/drawing/2014/main" id="{D8365892-100C-48EC-9A3A-F3D1D225B5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527174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FAEF75A-C84E-4210-9C31-A4AA38EE5CCC}"/>
              </a:ext>
            </a:extLst>
          </p:cNvPr>
          <p:cNvSpPr>
            <a:spLocks noGrp="1"/>
          </p:cNvSpPr>
          <p:nvPr>
            <p:ph type="title"/>
          </p:nvPr>
        </p:nvSpPr>
        <p:spPr/>
        <p:txBody>
          <a:bodyPr/>
          <a:lstStyle/>
          <a:p>
            <a:r>
              <a:rPr lang="en-US" altLang="ko-KR" dirty="0"/>
              <a:t>Why using Machine Learning</a:t>
            </a:r>
            <a:endParaRPr lang="ko-KR" altLang="en-US" dirty="0"/>
          </a:p>
        </p:txBody>
      </p:sp>
      <p:sp>
        <p:nvSpPr>
          <p:cNvPr id="3" name="내용 개체 틀 2">
            <a:extLst>
              <a:ext uri="{FF2B5EF4-FFF2-40B4-BE49-F238E27FC236}">
                <a16:creationId xmlns:a16="http://schemas.microsoft.com/office/drawing/2014/main" id="{7356D0AA-1AEB-4255-8E9F-4374DC5E4962}"/>
              </a:ext>
            </a:extLst>
          </p:cNvPr>
          <p:cNvSpPr>
            <a:spLocks noGrp="1"/>
          </p:cNvSpPr>
          <p:nvPr>
            <p:ph idx="1"/>
          </p:nvPr>
        </p:nvSpPr>
        <p:spPr/>
        <p:txBody>
          <a:bodyPr/>
          <a:lstStyle/>
          <a:p>
            <a:r>
              <a:rPr lang="en-US" altLang="ko-KR" b="0" i="0" dirty="0">
                <a:solidFill>
                  <a:srgbClr val="000000"/>
                </a:solidFill>
                <a:effectLst/>
              </a:rPr>
              <a:t>Traditional solutions require many manual tuning and rules: one machine learning model can simplify code and perform better than traditional methods.</a:t>
            </a:r>
          </a:p>
          <a:p>
            <a:r>
              <a:rPr lang="en-US" altLang="ko-KR" b="0" i="0" dirty="0">
                <a:solidFill>
                  <a:srgbClr val="000000"/>
                </a:solidFill>
                <a:effectLst/>
              </a:rPr>
              <a:t>Complex problems with no solutions in traditional ways: solutions can be found with the best machine learning techniques.</a:t>
            </a:r>
            <a:endParaRPr lang="en-US" altLang="ko-KR" dirty="0">
              <a:solidFill>
                <a:srgbClr val="000000"/>
              </a:solidFill>
            </a:endParaRPr>
          </a:p>
          <a:p>
            <a:r>
              <a:rPr lang="en-US" altLang="ko-KR" b="0" i="0" dirty="0">
                <a:solidFill>
                  <a:srgbClr val="000000"/>
                </a:solidFill>
                <a:effectLst/>
              </a:rPr>
              <a:t>Flexible environments: Machine learning systems can adapt to new data.</a:t>
            </a:r>
          </a:p>
          <a:p>
            <a:r>
              <a:rPr lang="en-US" altLang="ko-KR" b="0" i="0" dirty="0">
                <a:solidFill>
                  <a:srgbClr val="000000"/>
                </a:solidFill>
                <a:effectLst/>
              </a:rPr>
              <a:t>Gain insight from complex issues and massive amounts of data</a:t>
            </a:r>
            <a:endParaRPr lang="ko-KR" altLang="en-US" dirty="0"/>
          </a:p>
        </p:txBody>
      </p:sp>
      <p:pic>
        <p:nvPicPr>
          <p:cNvPr id="4" name="그림 3">
            <a:extLst>
              <a:ext uri="{FF2B5EF4-FFF2-40B4-BE49-F238E27FC236}">
                <a16:creationId xmlns:a16="http://schemas.microsoft.com/office/drawing/2014/main" id="{D8365892-100C-48EC-9A3A-F3D1D225B5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411252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A262D4D-C57B-4B92-9FBD-74FCEC82EDB1}"/>
              </a:ext>
            </a:extLst>
          </p:cNvPr>
          <p:cNvSpPr>
            <a:spLocks noGrp="1"/>
          </p:cNvSpPr>
          <p:nvPr>
            <p:ph type="title"/>
          </p:nvPr>
        </p:nvSpPr>
        <p:spPr/>
        <p:txBody>
          <a:bodyPr/>
          <a:lstStyle/>
          <a:p>
            <a:r>
              <a:rPr lang="en-US" altLang="ko-KR" dirty="0"/>
              <a:t>Application example</a:t>
            </a:r>
            <a:endParaRPr lang="ko-KR" altLang="en-US" dirty="0"/>
          </a:p>
        </p:txBody>
      </p:sp>
      <p:sp>
        <p:nvSpPr>
          <p:cNvPr id="3" name="내용 개체 틀 2">
            <a:extLst>
              <a:ext uri="{FF2B5EF4-FFF2-40B4-BE49-F238E27FC236}">
                <a16:creationId xmlns:a16="http://schemas.microsoft.com/office/drawing/2014/main" id="{079D26EA-0F42-4FEA-8DBA-2F50EE4457D0}"/>
              </a:ext>
            </a:extLst>
          </p:cNvPr>
          <p:cNvSpPr>
            <a:spLocks noGrp="1"/>
          </p:cNvSpPr>
          <p:nvPr>
            <p:ph idx="1"/>
          </p:nvPr>
        </p:nvSpPr>
        <p:spPr/>
        <p:txBody>
          <a:bodyPr>
            <a:normAutofit lnSpcReduction="10000"/>
          </a:bodyPr>
          <a:lstStyle/>
          <a:p>
            <a:pPr algn="l"/>
            <a:r>
              <a:rPr lang="en-US" altLang="ko-KR" b="0" i="0" dirty="0">
                <a:solidFill>
                  <a:srgbClr val="000000"/>
                </a:solidFill>
                <a:effectLst/>
              </a:rPr>
              <a:t>Analyze and automatically classify product images on the production line</a:t>
            </a:r>
          </a:p>
          <a:p>
            <a:r>
              <a:rPr lang="en-US" altLang="ko-KR" b="0" i="0" dirty="0">
                <a:solidFill>
                  <a:srgbClr val="000000"/>
                </a:solidFill>
                <a:effectLst/>
              </a:rPr>
              <a:t>Scan the brain to diagnose the tumor</a:t>
            </a:r>
          </a:p>
          <a:p>
            <a:r>
              <a:rPr lang="en-US" altLang="ko-KR" b="0" i="0" dirty="0">
                <a:solidFill>
                  <a:srgbClr val="000000"/>
                </a:solidFill>
                <a:effectLst/>
              </a:rPr>
              <a:t>To classify news articles automatically</a:t>
            </a:r>
            <a:endParaRPr lang="en-US" altLang="ko-KR" dirty="0">
              <a:solidFill>
                <a:srgbClr val="000000"/>
              </a:solidFill>
            </a:endParaRPr>
          </a:p>
          <a:p>
            <a:r>
              <a:rPr lang="en-US" altLang="ko-KR" b="0" i="0" dirty="0">
                <a:solidFill>
                  <a:srgbClr val="000000"/>
                </a:solidFill>
                <a:effectLst/>
              </a:rPr>
              <a:t>To automatically summarize long documents</a:t>
            </a:r>
          </a:p>
          <a:p>
            <a:r>
              <a:rPr lang="en-US" altLang="ko-KR" dirty="0">
                <a:solidFill>
                  <a:srgbClr val="000000"/>
                </a:solidFill>
              </a:rPr>
              <a:t>Chatbot</a:t>
            </a:r>
          </a:p>
          <a:p>
            <a:r>
              <a:rPr lang="en-US" altLang="ko-KR" b="0" i="0" dirty="0">
                <a:solidFill>
                  <a:srgbClr val="000000"/>
                </a:solidFill>
                <a:effectLst/>
              </a:rPr>
              <a:t>Predicting the company's earnings for the coming year</a:t>
            </a:r>
          </a:p>
          <a:p>
            <a:r>
              <a:rPr lang="en-US" altLang="ko-KR" b="0" i="0" dirty="0">
                <a:solidFill>
                  <a:srgbClr val="000000"/>
                </a:solidFill>
                <a:effectLst/>
              </a:rPr>
              <a:t>To detect fraudulent credit card transactions</a:t>
            </a:r>
            <a:endParaRPr lang="en-US" altLang="ko-KR" dirty="0">
              <a:solidFill>
                <a:srgbClr val="000000"/>
              </a:solidFill>
            </a:endParaRPr>
          </a:p>
          <a:p>
            <a:r>
              <a:rPr lang="en-US" altLang="ko-KR" b="0" i="0" dirty="0">
                <a:solidFill>
                  <a:srgbClr val="000000"/>
                </a:solidFill>
                <a:effectLst/>
              </a:rPr>
              <a:t>Reduce high-dimensional datasets to low-dimensional(2D, 3D)</a:t>
            </a:r>
            <a:endParaRPr lang="ko-KR" altLang="en-US" dirty="0"/>
          </a:p>
        </p:txBody>
      </p:sp>
      <p:pic>
        <p:nvPicPr>
          <p:cNvPr id="4" name="그림 3">
            <a:extLst>
              <a:ext uri="{FF2B5EF4-FFF2-40B4-BE49-F238E27FC236}">
                <a16:creationId xmlns:a16="http://schemas.microsoft.com/office/drawing/2014/main" id="{6993CBCB-2A04-414B-AC15-845CCEEDFF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227969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3CBAB9-4CC7-49A4-8ED5-F43EF465AF12}"/>
              </a:ext>
            </a:extLst>
          </p:cNvPr>
          <p:cNvSpPr>
            <a:spLocks noGrp="1"/>
          </p:cNvSpPr>
          <p:nvPr>
            <p:ph type="title"/>
          </p:nvPr>
        </p:nvSpPr>
        <p:spPr/>
        <p:txBody>
          <a:bodyPr/>
          <a:lstStyle/>
          <a:p>
            <a:r>
              <a:rPr lang="en-US" altLang="ko-KR" dirty="0"/>
              <a:t>Types of Machine Learning Systems</a:t>
            </a:r>
            <a:endParaRPr lang="ko-KR" altLang="en-US" dirty="0"/>
          </a:p>
        </p:txBody>
      </p:sp>
      <p:sp>
        <p:nvSpPr>
          <p:cNvPr id="3" name="내용 개체 틀 2">
            <a:extLst>
              <a:ext uri="{FF2B5EF4-FFF2-40B4-BE49-F238E27FC236}">
                <a16:creationId xmlns:a16="http://schemas.microsoft.com/office/drawing/2014/main" id="{E09C5046-F3E8-464B-AA98-3B0C9D3748E6}"/>
              </a:ext>
            </a:extLst>
          </p:cNvPr>
          <p:cNvSpPr>
            <a:spLocks noGrp="1"/>
          </p:cNvSpPr>
          <p:nvPr>
            <p:ph idx="1"/>
          </p:nvPr>
        </p:nvSpPr>
        <p:spPr/>
        <p:txBody>
          <a:bodyPr/>
          <a:lstStyle/>
          <a:p>
            <a:r>
              <a:rPr lang="en-US" altLang="ko-KR" b="0" i="0" dirty="0">
                <a:solidFill>
                  <a:srgbClr val="000000"/>
                </a:solidFill>
                <a:effectLst/>
              </a:rPr>
              <a:t>Training under human supervision? (Supervised, Unsupervised, Semi-supervised, reinforcement Learning)</a:t>
            </a:r>
          </a:p>
          <a:p>
            <a:r>
              <a:rPr lang="en-US" altLang="ko-KR" b="0" i="0" dirty="0">
                <a:solidFill>
                  <a:srgbClr val="000000"/>
                </a:solidFill>
                <a:effectLst/>
              </a:rPr>
              <a:t>Do you learn progressively in real time? (Online learning, Batch Learning)</a:t>
            </a:r>
          </a:p>
          <a:p>
            <a:r>
              <a:rPr lang="en-US" altLang="ko-KR" b="0" i="0" dirty="0">
                <a:solidFill>
                  <a:srgbClr val="000000"/>
                </a:solidFill>
                <a:effectLst/>
              </a:rPr>
              <a:t>Compare known and new data points or create predictive models by finding patterns in the training data set (Case-based learning and model-based learning)</a:t>
            </a:r>
          </a:p>
        </p:txBody>
      </p:sp>
      <p:pic>
        <p:nvPicPr>
          <p:cNvPr id="4" name="그림 3">
            <a:extLst>
              <a:ext uri="{FF2B5EF4-FFF2-40B4-BE49-F238E27FC236}">
                <a16:creationId xmlns:a16="http://schemas.microsoft.com/office/drawing/2014/main" id="{259E6B6D-218B-4829-9223-A9AB3681BB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452547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3CBAB9-4CC7-49A4-8ED5-F43EF465AF12}"/>
              </a:ext>
            </a:extLst>
          </p:cNvPr>
          <p:cNvSpPr>
            <a:spLocks noGrp="1"/>
          </p:cNvSpPr>
          <p:nvPr>
            <p:ph type="title"/>
          </p:nvPr>
        </p:nvSpPr>
        <p:spPr/>
        <p:txBody>
          <a:bodyPr/>
          <a:lstStyle/>
          <a:p>
            <a:r>
              <a:rPr lang="en-US" altLang="ko-KR" dirty="0"/>
              <a:t>Supervised Learning</a:t>
            </a:r>
            <a:endParaRPr lang="ko-KR" altLang="en-US" dirty="0"/>
          </a:p>
        </p:txBody>
      </p:sp>
      <p:sp>
        <p:nvSpPr>
          <p:cNvPr id="3" name="내용 개체 틀 2">
            <a:extLst>
              <a:ext uri="{FF2B5EF4-FFF2-40B4-BE49-F238E27FC236}">
                <a16:creationId xmlns:a16="http://schemas.microsoft.com/office/drawing/2014/main" id="{E09C5046-F3E8-464B-AA98-3B0C9D3748E6}"/>
              </a:ext>
            </a:extLst>
          </p:cNvPr>
          <p:cNvSpPr>
            <a:spLocks noGrp="1"/>
          </p:cNvSpPr>
          <p:nvPr>
            <p:ph idx="1"/>
          </p:nvPr>
        </p:nvSpPr>
        <p:spPr/>
        <p:txBody>
          <a:bodyPr/>
          <a:lstStyle/>
          <a:p>
            <a:r>
              <a:rPr lang="en-US" altLang="ko-KR" b="0" i="0" dirty="0">
                <a:solidFill>
                  <a:srgbClr val="000000"/>
                </a:solidFill>
                <a:effectLst/>
              </a:rPr>
              <a:t>In supervised learning, a label is included in the training data.</a:t>
            </a:r>
          </a:p>
          <a:p>
            <a:r>
              <a:rPr lang="en-US" altLang="ko-KR" b="0" i="0" dirty="0">
                <a:solidFill>
                  <a:srgbClr val="000000"/>
                </a:solidFill>
                <a:effectLst/>
              </a:rPr>
              <a:t>Classification is a typical supervised learning task.</a:t>
            </a:r>
            <a:endParaRPr lang="en-US" altLang="ko-KR" dirty="0">
              <a:solidFill>
                <a:srgbClr val="000000"/>
              </a:solidFill>
            </a:endParaRPr>
          </a:p>
          <a:p>
            <a:r>
              <a:rPr lang="en-US" altLang="ko-KR" b="0" i="0" dirty="0">
                <a:solidFill>
                  <a:srgbClr val="000000"/>
                </a:solidFill>
                <a:effectLst/>
              </a:rPr>
              <a:t>Regression task is to predict the target value using features.</a:t>
            </a:r>
          </a:p>
        </p:txBody>
      </p:sp>
      <p:pic>
        <p:nvPicPr>
          <p:cNvPr id="4" name="그림 3">
            <a:extLst>
              <a:ext uri="{FF2B5EF4-FFF2-40B4-BE49-F238E27FC236}">
                <a16:creationId xmlns:a16="http://schemas.microsoft.com/office/drawing/2014/main" id="{259E6B6D-218B-4829-9223-A9AB3681BB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105547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3CBAB9-4CC7-49A4-8ED5-F43EF465AF12}"/>
              </a:ext>
            </a:extLst>
          </p:cNvPr>
          <p:cNvSpPr>
            <a:spLocks noGrp="1"/>
          </p:cNvSpPr>
          <p:nvPr>
            <p:ph type="title"/>
          </p:nvPr>
        </p:nvSpPr>
        <p:spPr/>
        <p:txBody>
          <a:bodyPr/>
          <a:lstStyle/>
          <a:p>
            <a:r>
              <a:rPr lang="en-US" altLang="ko-KR" dirty="0"/>
              <a:t>Supervised Learning algorithms</a:t>
            </a:r>
            <a:endParaRPr lang="ko-KR" altLang="en-US" dirty="0"/>
          </a:p>
        </p:txBody>
      </p:sp>
      <p:sp>
        <p:nvSpPr>
          <p:cNvPr id="3" name="내용 개체 틀 2">
            <a:extLst>
              <a:ext uri="{FF2B5EF4-FFF2-40B4-BE49-F238E27FC236}">
                <a16:creationId xmlns:a16="http://schemas.microsoft.com/office/drawing/2014/main" id="{E09C5046-F3E8-464B-AA98-3B0C9D3748E6}"/>
              </a:ext>
            </a:extLst>
          </p:cNvPr>
          <p:cNvSpPr>
            <a:spLocks noGrp="1"/>
          </p:cNvSpPr>
          <p:nvPr>
            <p:ph idx="1"/>
          </p:nvPr>
        </p:nvSpPr>
        <p:spPr/>
        <p:txBody>
          <a:bodyPr/>
          <a:lstStyle/>
          <a:p>
            <a:r>
              <a:rPr lang="en-US" altLang="ko-KR" b="0" i="0" dirty="0">
                <a:solidFill>
                  <a:srgbClr val="000000"/>
                </a:solidFill>
                <a:effectLst/>
              </a:rPr>
              <a:t>K-Means algorithm</a:t>
            </a:r>
          </a:p>
          <a:p>
            <a:r>
              <a:rPr lang="en-US" altLang="ko-KR" dirty="0">
                <a:solidFill>
                  <a:srgbClr val="000000"/>
                </a:solidFill>
              </a:rPr>
              <a:t>Linear regression</a:t>
            </a:r>
          </a:p>
          <a:p>
            <a:r>
              <a:rPr lang="en-US" altLang="ko-KR" b="0" i="0" dirty="0">
                <a:solidFill>
                  <a:srgbClr val="000000"/>
                </a:solidFill>
                <a:effectLst/>
              </a:rPr>
              <a:t>Logistic regression</a:t>
            </a:r>
          </a:p>
          <a:p>
            <a:r>
              <a:rPr lang="en-US" altLang="ko-KR" dirty="0">
                <a:solidFill>
                  <a:srgbClr val="000000"/>
                </a:solidFill>
              </a:rPr>
              <a:t>Support Vector Machine(SVM)</a:t>
            </a:r>
          </a:p>
          <a:p>
            <a:r>
              <a:rPr lang="en-US" altLang="ko-KR" b="0" i="0" dirty="0">
                <a:solidFill>
                  <a:srgbClr val="000000"/>
                </a:solidFill>
                <a:effectLst/>
              </a:rPr>
              <a:t>Dec</a:t>
            </a:r>
            <a:r>
              <a:rPr lang="en-US" altLang="ko-KR" dirty="0">
                <a:solidFill>
                  <a:srgbClr val="000000"/>
                </a:solidFill>
              </a:rPr>
              <a:t>ision tree and random forest</a:t>
            </a:r>
          </a:p>
          <a:p>
            <a:r>
              <a:rPr lang="en-US" altLang="ko-KR" b="0" i="0" dirty="0">
                <a:solidFill>
                  <a:srgbClr val="000000"/>
                </a:solidFill>
                <a:effectLst/>
              </a:rPr>
              <a:t>Neural network</a:t>
            </a:r>
          </a:p>
        </p:txBody>
      </p:sp>
      <p:pic>
        <p:nvPicPr>
          <p:cNvPr id="4" name="그림 3">
            <a:extLst>
              <a:ext uri="{FF2B5EF4-FFF2-40B4-BE49-F238E27FC236}">
                <a16:creationId xmlns:a16="http://schemas.microsoft.com/office/drawing/2014/main" id="{259E6B6D-218B-4829-9223-A9AB3681BB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645032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3CBAB9-4CC7-49A4-8ED5-F43EF465AF12}"/>
              </a:ext>
            </a:extLst>
          </p:cNvPr>
          <p:cNvSpPr>
            <a:spLocks noGrp="1"/>
          </p:cNvSpPr>
          <p:nvPr>
            <p:ph type="title"/>
          </p:nvPr>
        </p:nvSpPr>
        <p:spPr/>
        <p:txBody>
          <a:bodyPr/>
          <a:lstStyle/>
          <a:p>
            <a:r>
              <a:rPr lang="en-US" altLang="ko-KR" dirty="0"/>
              <a:t>Unsupervised Learning</a:t>
            </a:r>
            <a:endParaRPr lang="ko-KR" altLang="en-US" dirty="0"/>
          </a:p>
        </p:txBody>
      </p:sp>
      <p:sp>
        <p:nvSpPr>
          <p:cNvPr id="3" name="내용 개체 틀 2">
            <a:extLst>
              <a:ext uri="{FF2B5EF4-FFF2-40B4-BE49-F238E27FC236}">
                <a16:creationId xmlns:a16="http://schemas.microsoft.com/office/drawing/2014/main" id="{E09C5046-F3E8-464B-AA98-3B0C9D3748E6}"/>
              </a:ext>
            </a:extLst>
          </p:cNvPr>
          <p:cNvSpPr>
            <a:spLocks noGrp="1"/>
          </p:cNvSpPr>
          <p:nvPr>
            <p:ph idx="1"/>
          </p:nvPr>
        </p:nvSpPr>
        <p:spPr/>
        <p:txBody>
          <a:bodyPr/>
          <a:lstStyle/>
          <a:p>
            <a:r>
              <a:rPr lang="en-US" altLang="ko-KR" b="0" i="0" dirty="0">
                <a:solidFill>
                  <a:srgbClr val="000000"/>
                </a:solidFill>
                <a:effectLst/>
              </a:rPr>
              <a:t>Unsupervised learning is literally unlabeled in training data.</a:t>
            </a:r>
          </a:p>
          <a:p>
            <a:r>
              <a:rPr lang="en-US" altLang="ko-KR" b="0" i="0" dirty="0">
                <a:solidFill>
                  <a:srgbClr val="000000"/>
                </a:solidFill>
                <a:effectLst/>
              </a:rPr>
              <a:t>The system must learn without any help.</a:t>
            </a:r>
          </a:p>
        </p:txBody>
      </p:sp>
      <p:pic>
        <p:nvPicPr>
          <p:cNvPr id="4" name="그림 3">
            <a:extLst>
              <a:ext uri="{FF2B5EF4-FFF2-40B4-BE49-F238E27FC236}">
                <a16:creationId xmlns:a16="http://schemas.microsoft.com/office/drawing/2014/main" id="{259E6B6D-218B-4829-9223-A9AB3681BB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graphicFrame>
        <p:nvGraphicFramePr>
          <p:cNvPr id="5" name="표 5">
            <a:extLst>
              <a:ext uri="{FF2B5EF4-FFF2-40B4-BE49-F238E27FC236}">
                <a16:creationId xmlns:a16="http://schemas.microsoft.com/office/drawing/2014/main" id="{46F09D6F-CE0E-480A-895B-765CE08F624E}"/>
              </a:ext>
            </a:extLst>
          </p:cNvPr>
          <p:cNvGraphicFramePr>
            <a:graphicFrameLocks noGrp="1"/>
          </p:cNvGraphicFramePr>
          <p:nvPr>
            <p:extLst>
              <p:ext uri="{D42A27DB-BD31-4B8C-83A1-F6EECF244321}">
                <p14:modId xmlns:p14="http://schemas.microsoft.com/office/powerpoint/2010/main" val="316079483"/>
              </p:ext>
            </p:extLst>
          </p:nvPr>
        </p:nvGraphicFramePr>
        <p:xfrm>
          <a:off x="838200" y="2939776"/>
          <a:ext cx="10515600" cy="293624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3640772184"/>
                    </a:ext>
                  </a:extLst>
                </a:gridCol>
                <a:gridCol w="2628900">
                  <a:extLst>
                    <a:ext uri="{9D8B030D-6E8A-4147-A177-3AD203B41FA5}">
                      <a16:colId xmlns:a16="http://schemas.microsoft.com/office/drawing/2014/main" val="569090935"/>
                    </a:ext>
                  </a:extLst>
                </a:gridCol>
                <a:gridCol w="2628900">
                  <a:extLst>
                    <a:ext uri="{9D8B030D-6E8A-4147-A177-3AD203B41FA5}">
                      <a16:colId xmlns:a16="http://schemas.microsoft.com/office/drawing/2014/main" val="2266149650"/>
                    </a:ext>
                  </a:extLst>
                </a:gridCol>
                <a:gridCol w="2628900">
                  <a:extLst>
                    <a:ext uri="{9D8B030D-6E8A-4147-A177-3AD203B41FA5}">
                      <a16:colId xmlns:a16="http://schemas.microsoft.com/office/drawing/2014/main" val="2121483645"/>
                    </a:ext>
                  </a:extLst>
                </a:gridCol>
              </a:tblGrid>
              <a:tr h="370840">
                <a:tc>
                  <a:txBody>
                    <a:bodyPr/>
                    <a:lstStyle/>
                    <a:p>
                      <a:pPr latinLnBrk="1"/>
                      <a:r>
                        <a:rPr lang="en-US" altLang="ko-KR" dirty="0"/>
                        <a:t>Clustering</a:t>
                      </a:r>
                      <a:endParaRPr lang="ko-KR" altLang="en-US" dirty="0"/>
                    </a:p>
                  </a:txBody>
                  <a:tcPr/>
                </a:tc>
                <a:tc>
                  <a:txBody>
                    <a:bodyPr/>
                    <a:lstStyle/>
                    <a:p>
                      <a:pPr latinLnBrk="1"/>
                      <a:r>
                        <a:rPr lang="en-US" altLang="ko-KR" dirty="0"/>
                        <a:t>Outlier detection,</a:t>
                      </a:r>
                    </a:p>
                    <a:p>
                      <a:pPr latinLnBrk="1"/>
                      <a:r>
                        <a:rPr lang="en-US" altLang="ko-KR" dirty="0"/>
                        <a:t>Dimensionality reduction</a:t>
                      </a:r>
                      <a:endParaRPr lang="ko-KR" altLang="en-US" dirty="0"/>
                    </a:p>
                  </a:txBody>
                  <a:tcPr/>
                </a:tc>
                <a:tc>
                  <a:txBody>
                    <a:bodyPr/>
                    <a:lstStyle/>
                    <a:p>
                      <a:pPr latinLnBrk="1"/>
                      <a:r>
                        <a:rPr lang="en-US" altLang="ko-KR" dirty="0"/>
                        <a:t>Visualization,</a:t>
                      </a:r>
                    </a:p>
                    <a:p>
                      <a:pPr latinLnBrk="1"/>
                      <a:r>
                        <a:rPr lang="en-US" altLang="ko-KR" dirty="0"/>
                        <a:t>Dimensionality reduction</a:t>
                      </a:r>
                      <a:endParaRPr lang="ko-KR" altLang="en-US" dirty="0"/>
                    </a:p>
                  </a:txBody>
                  <a:tcPr/>
                </a:tc>
                <a:tc>
                  <a:txBody>
                    <a:bodyPr/>
                    <a:lstStyle/>
                    <a:p>
                      <a:pPr latinLnBrk="1"/>
                      <a:r>
                        <a:rPr lang="en-US" altLang="ko-KR" dirty="0"/>
                        <a:t>Association rule learning</a:t>
                      </a:r>
                      <a:endParaRPr lang="ko-KR" altLang="en-US" dirty="0"/>
                    </a:p>
                  </a:txBody>
                  <a:tcPr/>
                </a:tc>
                <a:extLst>
                  <a:ext uri="{0D108BD9-81ED-4DB2-BD59-A6C34878D82A}">
                    <a16:rowId xmlns:a16="http://schemas.microsoft.com/office/drawing/2014/main" val="500050196"/>
                  </a:ext>
                </a:extLst>
              </a:tr>
              <a:tr h="370840">
                <a:tc>
                  <a:txBody>
                    <a:bodyPr/>
                    <a:lstStyle/>
                    <a:p>
                      <a:pPr latinLnBrk="1"/>
                      <a:r>
                        <a:rPr lang="en-US" altLang="ko-KR" dirty="0"/>
                        <a:t>K-Means</a:t>
                      </a:r>
                      <a:endParaRPr lang="ko-KR" altLang="en-US" dirty="0"/>
                    </a:p>
                  </a:txBody>
                  <a:tcPr/>
                </a:tc>
                <a:tc>
                  <a:txBody>
                    <a:bodyPr/>
                    <a:lstStyle/>
                    <a:p>
                      <a:pPr latinLnBrk="1"/>
                      <a:r>
                        <a:rPr lang="en-US" altLang="ko-KR" dirty="0"/>
                        <a:t>One-class SVM</a:t>
                      </a:r>
                      <a:endParaRPr lang="ko-KR" altLang="en-US" dirty="0"/>
                    </a:p>
                  </a:txBody>
                  <a:tcPr/>
                </a:tc>
                <a:tc>
                  <a:txBody>
                    <a:bodyPr/>
                    <a:lstStyle/>
                    <a:p>
                      <a:pPr latinLnBrk="1"/>
                      <a:r>
                        <a:rPr lang="en-US" altLang="ko-KR" dirty="0"/>
                        <a:t>Principal component analysis (PCA)</a:t>
                      </a:r>
                      <a:endParaRPr lang="ko-KR" altLang="en-US" dirty="0"/>
                    </a:p>
                  </a:txBody>
                  <a:tcPr/>
                </a:tc>
                <a:tc>
                  <a:txBody>
                    <a:bodyPr/>
                    <a:lstStyle/>
                    <a:p>
                      <a:pPr latinLnBrk="1"/>
                      <a:r>
                        <a:rPr lang="en-US" altLang="ko-KR" dirty="0" err="1"/>
                        <a:t>Apriori</a:t>
                      </a:r>
                      <a:endParaRPr lang="ko-KR" altLang="en-US" dirty="0"/>
                    </a:p>
                  </a:txBody>
                  <a:tcPr/>
                </a:tc>
                <a:extLst>
                  <a:ext uri="{0D108BD9-81ED-4DB2-BD59-A6C34878D82A}">
                    <a16:rowId xmlns:a16="http://schemas.microsoft.com/office/drawing/2014/main" val="3210891313"/>
                  </a:ext>
                </a:extLst>
              </a:tr>
              <a:tr h="370840">
                <a:tc>
                  <a:txBody>
                    <a:bodyPr/>
                    <a:lstStyle/>
                    <a:p>
                      <a:pPr latinLnBrk="1"/>
                      <a:r>
                        <a:rPr lang="en-US" altLang="ko-KR" dirty="0"/>
                        <a:t>DBSCAN</a:t>
                      </a:r>
                      <a:endParaRPr lang="ko-KR" altLang="en-US" dirty="0"/>
                    </a:p>
                  </a:txBody>
                  <a:tcPr/>
                </a:tc>
                <a:tc>
                  <a:txBody>
                    <a:bodyPr/>
                    <a:lstStyle/>
                    <a:p>
                      <a:pPr latinLnBrk="1"/>
                      <a:r>
                        <a:rPr lang="en-US" altLang="ko-KR" dirty="0"/>
                        <a:t>Isolation forest</a:t>
                      </a:r>
                      <a:endParaRPr lang="ko-KR" altLang="en-US" dirty="0"/>
                    </a:p>
                  </a:txBody>
                  <a:tcPr/>
                </a:tc>
                <a:tc>
                  <a:txBody>
                    <a:bodyPr/>
                    <a:lstStyle/>
                    <a:p>
                      <a:pPr latinLnBrk="1"/>
                      <a:r>
                        <a:rPr lang="en-US" altLang="ko-KR" dirty="0"/>
                        <a:t>Kernel PCA</a:t>
                      </a:r>
                      <a:endParaRPr lang="ko-KR" altLang="en-US" dirty="0"/>
                    </a:p>
                  </a:txBody>
                  <a:tcPr/>
                </a:tc>
                <a:tc>
                  <a:txBody>
                    <a:bodyPr/>
                    <a:lstStyle/>
                    <a:p>
                      <a:pPr latinLnBrk="1"/>
                      <a:r>
                        <a:rPr lang="en-US" altLang="ko-KR" dirty="0" err="1"/>
                        <a:t>Ecalt</a:t>
                      </a:r>
                      <a:endParaRPr lang="ko-KR" altLang="en-US" dirty="0"/>
                    </a:p>
                  </a:txBody>
                  <a:tcPr/>
                </a:tc>
                <a:extLst>
                  <a:ext uri="{0D108BD9-81ED-4DB2-BD59-A6C34878D82A}">
                    <a16:rowId xmlns:a16="http://schemas.microsoft.com/office/drawing/2014/main" val="3183400607"/>
                  </a:ext>
                </a:extLst>
              </a:tr>
              <a:tr h="370840">
                <a:tc>
                  <a:txBody>
                    <a:bodyPr/>
                    <a:lstStyle/>
                    <a:p>
                      <a:pPr latinLnBrk="1"/>
                      <a:r>
                        <a:rPr lang="en-US" altLang="ko-KR" dirty="0" err="1"/>
                        <a:t>Hierarchial</a:t>
                      </a:r>
                      <a:r>
                        <a:rPr lang="en-US" altLang="ko-KR" dirty="0"/>
                        <a:t> cluster analysis (HCA)</a:t>
                      </a:r>
                      <a:endParaRPr lang="ko-KR" altLang="en-US" dirty="0"/>
                    </a:p>
                  </a:txBody>
                  <a:tcPr/>
                </a:tc>
                <a:tc>
                  <a:txBody>
                    <a:bodyPr/>
                    <a:lstStyle/>
                    <a:p>
                      <a:pPr latinLnBrk="1"/>
                      <a:endParaRPr lang="ko-KR" altLang="en-US" dirty="0"/>
                    </a:p>
                  </a:txBody>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Locally linear embedding(LLE)</a:t>
                      </a:r>
                      <a:endParaRPr lang="ko-KR" altLang="en-US" dirty="0"/>
                    </a:p>
                  </a:txBody>
                  <a:tcPr/>
                </a:tc>
                <a:tc>
                  <a:txBody>
                    <a:bodyPr/>
                    <a:lstStyle/>
                    <a:p>
                      <a:pPr latinLnBrk="1"/>
                      <a:endParaRPr lang="ko-KR" altLang="en-US" dirty="0"/>
                    </a:p>
                  </a:txBody>
                  <a:tcPr/>
                </a:tc>
                <a:extLst>
                  <a:ext uri="{0D108BD9-81ED-4DB2-BD59-A6C34878D82A}">
                    <a16:rowId xmlns:a16="http://schemas.microsoft.com/office/drawing/2014/main" val="968902778"/>
                  </a:ext>
                </a:extLst>
              </a:tr>
              <a:tr h="370840">
                <a:tc>
                  <a:txBody>
                    <a:bodyPr/>
                    <a:lstStyle/>
                    <a:p>
                      <a:pPr latinLnBrk="1"/>
                      <a:endParaRPr lang="ko-KR" altLang="en-US"/>
                    </a:p>
                  </a:txBody>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dirty="0"/>
                    </a:p>
                  </a:txBody>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t-SNE</a:t>
                      </a:r>
                      <a:endParaRPr lang="ko-KR" altLang="en-US" dirty="0"/>
                    </a:p>
                  </a:txBody>
                  <a:tcPr/>
                </a:tc>
                <a:tc>
                  <a:txBody>
                    <a:bodyPr/>
                    <a:lstStyle/>
                    <a:p>
                      <a:pPr latinLnBrk="1"/>
                      <a:endParaRPr lang="ko-KR" altLang="en-US" dirty="0"/>
                    </a:p>
                  </a:txBody>
                  <a:tcPr/>
                </a:tc>
                <a:extLst>
                  <a:ext uri="{0D108BD9-81ED-4DB2-BD59-A6C34878D82A}">
                    <a16:rowId xmlns:a16="http://schemas.microsoft.com/office/drawing/2014/main" val="1633576482"/>
                  </a:ext>
                </a:extLst>
              </a:tr>
            </a:tbl>
          </a:graphicData>
        </a:graphic>
      </p:graphicFrame>
    </p:spTree>
    <p:extLst>
      <p:ext uri="{BB962C8B-B14F-4D97-AF65-F5344CB8AC3E}">
        <p14:creationId xmlns:p14="http://schemas.microsoft.com/office/powerpoint/2010/main" val="31396429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B3CBAB9-4CC7-49A4-8ED5-F43EF465AF12}"/>
              </a:ext>
            </a:extLst>
          </p:cNvPr>
          <p:cNvSpPr>
            <a:spLocks noGrp="1"/>
          </p:cNvSpPr>
          <p:nvPr>
            <p:ph type="title"/>
          </p:nvPr>
        </p:nvSpPr>
        <p:spPr/>
        <p:txBody>
          <a:bodyPr/>
          <a:lstStyle/>
          <a:p>
            <a:r>
              <a:rPr lang="en-US" altLang="ko-KR" dirty="0"/>
              <a:t>Unsupervised Learning</a:t>
            </a:r>
            <a:endParaRPr lang="ko-KR" altLang="en-US" dirty="0"/>
          </a:p>
        </p:txBody>
      </p:sp>
      <p:sp>
        <p:nvSpPr>
          <p:cNvPr id="3" name="내용 개체 틀 2">
            <a:extLst>
              <a:ext uri="{FF2B5EF4-FFF2-40B4-BE49-F238E27FC236}">
                <a16:creationId xmlns:a16="http://schemas.microsoft.com/office/drawing/2014/main" id="{E09C5046-F3E8-464B-AA98-3B0C9D3748E6}"/>
              </a:ext>
            </a:extLst>
          </p:cNvPr>
          <p:cNvSpPr>
            <a:spLocks noGrp="1"/>
          </p:cNvSpPr>
          <p:nvPr>
            <p:ph idx="1"/>
          </p:nvPr>
        </p:nvSpPr>
        <p:spPr/>
        <p:txBody>
          <a:bodyPr>
            <a:normAutofit fontScale="85000" lnSpcReduction="20000"/>
          </a:bodyPr>
          <a:lstStyle/>
          <a:p>
            <a:r>
              <a:rPr lang="en-US" altLang="ko-KR" b="0" i="0" dirty="0">
                <a:solidFill>
                  <a:srgbClr val="000000"/>
                </a:solidFill>
                <a:effectLst/>
              </a:rPr>
              <a:t>Clustering refers to the process of dividing objects into several clusters (subgroups) when they are given.</a:t>
            </a:r>
          </a:p>
          <a:p>
            <a:r>
              <a:rPr lang="en-US" altLang="ko-KR" b="0" i="0" dirty="0">
                <a:solidFill>
                  <a:srgbClr val="000000"/>
                </a:solidFill>
                <a:effectLst/>
              </a:rPr>
              <a:t>Visualization creates a 2D or 3D representation capable of schematizing large, unlabeled, high-dimensional data.</a:t>
            </a:r>
          </a:p>
          <a:p>
            <a:r>
              <a:rPr lang="en-US" altLang="ko-KR" b="0" i="0" dirty="0">
                <a:solidFill>
                  <a:srgbClr val="000000"/>
                </a:solidFill>
                <a:effectLst/>
              </a:rPr>
              <a:t>Dimension reduction simplifies data without losing too much information.</a:t>
            </a:r>
          </a:p>
          <a:p>
            <a:r>
              <a:rPr lang="en-US" altLang="ko-KR" b="0" i="0" dirty="0">
                <a:solidFill>
                  <a:srgbClr val="000000"/>
                </a:solidFill>
                <a:effectLst/>
              </a:rPr>
              <a:t>Outlier detection is one of the data analysis techniques based on data mining, which detects outliers, "observed values suspected of being generated by different methods from other observations within a data" (Hawkins, 1980).</a:t>
            </a:r>
            <a:endParaRPr lang="en-US" altLang="ko-KR" dirty="0">
              <a:solidFill>
                <a:srgbClr val="000000"/>
              </a:solidFill>
            </a:endParaRPr>
          </a:p>
          <a:p>
            <a:r>
              <a:rPr lang="en-US" altLang="ko-KR" b="0" i="0" dirty="0">
                <a:solidFill>
                  <a:srgbClr val="000000"/>
                </a:solidFill>
                <a:effectLst/>
              </a:rPr>
              <a:t>Novelty detection aims to detect new samples that look different from all the samples in the training set.</a:t>
            </a:r>
          </a:p>
          <a:p>
            <a:r>
              <a:rPr lang="en-US" altLang="ko-KR" b="0" i="0" dirty="0">
                <a:solidFill>
                  <a:srgbClr val="000000"/>
                </a:solidFill>
                <a:effectLst/>
              </a:rPr>
              <a:t>Association rule learning finds relationships between characteristics in large amounts of data.</a:t>
            </a:r>
          </a:p>
        </p:txBody>
      </p:sp>
      <p:pic>
        <p:nvPicPr>
          <p:cNvPr id="4" name="그림 3">
            <a:extLst>
              <a:ext uri="{FF2B5EF4-FFF2-40B4-BE49-F238E27FC236}">
                <a16:creationId xmlns:a16="http://schemas.microsoft.com/office/drawing/2014/main" id="{259E6B6D-218B-4829-9223-A9AB3681BB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598333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868BCDF-DAD2-4DFB-B11B-7C5423CD5E08}"/>
              </a:ext>
            </a:extLst>
          </p:cNvPr>
          <p:cNvSpPr>
            <a:spLocks noGrp="1"/>
          </p:cNvSpPr>
          <p:nvPr>
            <p:ph type="title"/>
          </p:nvPr>
        </p:nvSpPr>
        <p:spPr/>
        <p:txBody>
          <a:bodyPr/>
          <a:lstStyle/>
          <a:p>
            <a:r>
              <a:rPr lang="en-US" altLang="ko-KR" dirty="0"/>
              <a:t>Semi-supervised learning</a:t>
            </a:r>
            <a:endParaRPr lang="ko-KR" altLang="en-US" dirty="0"/>
          </a:p>
        </p:txBody>
      </p:sp>
      <p:sp>
        <p:nvSpPr>
          <p:cNvPr id="3" name="내용 개체 틀 2">
            <a:extLst>
              <a:ext uri="{FF2B5EF4-FFF2-40B4-BE49-F238E27FC236}">
                <a16:creationId xmlns:a16="http://schemas.microsoft.com/office/drawing/2014/main" id="{61CF08D6-B674-4B78-A240-62D012A53441}"/>
              </a:ext>
            </a:extLst>
          </p:cNvPr>
          <p:cNvSpPr>
            <a:spLocks noGrp="1"/>
          </p:cNvSpPr>
          <p:nvPr>
            <p:ph idx="1"/>
          </p:nvPr>
        </p:nvSpPr>
        <p:spPr/>
        <p:txBody>
          <a:bodyPr/>
          <a:lstStyle/>
          <a:p>
            <a:r>
              <a:rPr lang="en-US" altLang="ko-KR" b="0" i="0" dirty="0">
                <a:solidFill>
                  <a:srgbClr val="000000"/>
                </a:solidFill>
                <a:effectLst/>
              </a:rPr>
              <a:t>Semi-supervised learning deals with labeled data only in part.</a:t>
            </a:r>
          </a:p>
          <a:p>
            <a:r>
              <a:rPr lang="en-US" altLang="ko-KR" b="0" i="0" dirty="0">
                <a:solidFill>
                  <a:srgbClr val="000000"/>
                </a:solidFill>
                <a:effectLst/>
              </a:rPr>
              <a:t>For example, if you add a label to that cluster after clustering, other data points are assigned labels.</a:t>
            </a:r>
            <a:endParaRPr lang="ko-KR" altLang="en-US" dirty="0"/>
          </a:p>
        </p:txBody>
      </p:sp>
      <p:pic>
        <p:nvPicPr>
          <p:cNvPr id="4" name="그림 3">
            <a:extLst>
              <a:ext uri="{FF2B5EF4-FFF2-40B4-BE49-F238E27FC236}">
                <a16:creationId xmlns:a16="http://schemas.microsoft.com/office/drawing/2014/main" id="{338CD56C-368B-482D-B1E3-AFB739F724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56600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34B033F-F966-45FE-A9D1-9BAAA29E51BC}"/>
              </a:ext>
            </a:extLst>
          </p:cNvPr>
          <p:cNvSpPr>
            <a:spLocks noGrp="1"/>
          </p:cNvSpPr>
          <p:nvPr>
            <p:ph type="title"/>
          </p:nvPr>
        </p:nvSpPr>
        <p:spPr/>
        <p:txBody>
          <a:bodyPr/>
          <a:lstStyle/>
          <a:p>
            <a:r>
              <a:rPr lang="en-US" altLang="ko-KR" dirty="0"/>
              <a:t>Reinforcement learning</a:t>
            </a:r>
            <a:endParaRPr lang="ko-KR" altLang="en-US" dirty="0"/>
          </a:p>
        </p:txBody>
      </p:sp>
      <p:sp>
        <p:nvSpPr>
          <p:cNvPr id="3" name="내용 개체 틀 2">
            <a:extLst>
              <a:ext uri="{FF2B5EF4-FFF2-40B4-BE49-F238E27FC236}">
                <a16:creationId xmlns:a16="http://schemas.microsoft.com/office/drawing/2014/main" id="{FB90DB1E-3CAC-4DA4-8C4B-99668228B38D}"/>
              </a:ext>
            </a:extLst>
          </p:cNvPr>
          <p:cNvSpPr>
            <a:spLocks noGrp="1"/>
          </p:cNvSpPr>
          <p:nvPr>
            <p:ph idx="1"/>
          </p:nvPr>
        </p:nvSpPr>
        <p:spPr/>
        <p:txBody>
          <a:bodyPr/>
          <a:lstStyle/>
          <a:p>
            <a:r>
              <a:rPr lang="en-US" altLang="ko-KR" b="0" i="0" dirty="0">
                <a:solidFill>
                  <a:srgbClr val="000000"/>
                </a:solidFill>
                <a:effectLst/>
              </a:rPr>
              <a:t>In reinforcement learning, the agent observes the environment and executes the action and receives a reward(penalty) as a result. And we execute a strategy called policy to get the greatest reward.</a:t>
            </a:r>
            <a:endParaRPr lang="ko-KR" altLang="en-US" dirty="0"/>
          </a:p>
        </p:txBody>
      </p:sp>
      <p:pic>
        <p:nvPicPr>
          <p:cNvPr id="4" name="그림 3">
            <a:extLst>
              <a:ext uri="{FF2B5EF4-FFF2-40B4-BE49-F238E27FC236}">
                <a16:creationId xmlns:a16="http://schemas.microsoft.com/office/drawing/2014/main" id="{0392BE64-E1FC-497C-B3EC-883E023B78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204488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878A3D8-1884-4BE0-B038-5A03454BF04E}"/>
              </a:ext>
            </a:extLst>
          </p:cNvPr>
          <p:cNvSpPr>
            <a:spLocks noGrp="1"/>
          </p:cNvSpPr>
          <p:nvPr>
            <p:ph type="title"/>
          </p:nvPr>
        </p:nvSpPr>
        <p:spPr/>
        <p:txBody>
          <a:bodyPr/>
          <a:lstStyle/>
          <a:p>
            <a:r>
              <a:rPr lang="en-US" altLang="ko-KR" dirty="0"/>
              <a:t>Batch learning</a:t>
            </a:r>
            <a:endParaRPr lang="ko-KR" altLang="en-US" dirty="0"/>
          </a:p>
        </p:txBody>
      </p:sp>
      <p:sp>
        <p:nvSpPr>
          <p:cNvPr id="3" name="내용 개체 틀 2">
            <a:extLst>
              <a:ext uri="{FF2B5EF4-FFF2-40B4-BE49-F238E27FC236}">
                <a16:creationId xmlns:a16="http://schemas.microsoft.com/office/drawing/2014/main" id="{3CB4E99D-A50B-40DC-986E-395239C4104F}"/>
              </a:ext>
            </a:extLst>
          </p:cNvPr>
          <p:cNvSpPr>
            <a:spLocks noGrp="1"/>
          </p:cNvSpPr>
          <p:nvPr>
            <p:ph idx="1"/>
          </p:nvPr>
        </p:nvSpPr>
        <p:spPr/>
        <p:txBody>
          <a:bodyPr/>
          <a:lstStyle/>
          <a:p>
            <a:r>
              <a:rPr lang="en-US" altLang="ko-KR" b="0" i="0" dirty="0">
                <a:solidFill>
                  <a:srgbClr val="000000"/>
                </a:solidFill>
                <a:effectLst/>
              </a:rPr>
              <a:t>In batch learning, the system cannot learn progressively.</a:t>
            </a:r>
          </a:p>
          <a:p>
            <a:r>
              <a:rPr lang="en-US" altLang="ko-KR" b="0" i="0" dirty="0">
                <a:solidFill>
                  <a:srgbClr val="000000"/>
                </a:solidFill>
                <a:effectLst/>
              </a:rPr>
              <a:t>In order for batch learning systems to learn about new data, new versions of the system must be trained from scratch using the full data.</a:t>
            </a:r>
            <a:endParaRPr lang="en-US" altLang="ko-KR" dirty="0">
              <a:solidFill>
                <a:srgbClr val="000000"/>
              </a:solidFill>
            </a:endParaRPr>
          </a:p>
          <a:p>
            <a:endParaRPr lang="ko-KR" altLang="en-US" dirty="0"/>
          </a:p>
        </p:txBody>
      </p:sp>
      <p:pic>
        <p:nvPicPr>
          <p:cNvPr id="4" name="그림 3">
            <a:extLst>
              <a:ext uri="{FF2B5EF4-FFF2-40B4-BE49-F238E27FC236}">
                <a16:creationId xmlns:a16="http://schemas.microsoft.com/office/drawing/2014/main" id="{A5C7DBF9-6141-46BC-A63B-EE3F8F9201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295472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878A3D8-1884-4BE0-B038-5A03454BF04E}"/>
              </a:ext>
            </a:extLst>
          </p:cNvPr>
          <p:cNvSpPr>
            <a:spLocks noGrp="1"/>
          </p:cNvSpPr>
          <p:nvPr>
            <p:ph type="title"/>
          </p:nvPr>
        </p:nvSpPr>
        <p:spPr/>
        <p:txBody>
          <a:bodyPr/>
          <a:lstStyle/>
          <a:p>
            <a:r>
              <a:rPr lang="en-US" altLang="ko-KR" dirty="0"/>
              <a:t>Online learning</a:t>
            </a:r>
            <a:endParaRPr lang="ko-KR" altLang="en-US" dirty="0"/>
          </a:p>
        </p:txBody>
      </p:sp>
      <p:sp>
        <p:nvSpPr>
          <p:cNvPr id="3" name="내용 개체 틀 2">
            <a:extLst>
              <a:ext uri="{FF2B5EF4-FFF2-40B4-BE49-F238E27FC236}">
                <a16:creationId xmlns:a16="http://schemas.microsoft.com/office/drawing/2014/main" id="{3CB4E99D-A50B-40DC-986E-395239C4104F}"/>
              </a:ext>
            </a:extLst>
          </p:cNvPr>
          <p:cNvSpPr>
            <a:spLocks noGrp="1"/>
          </p:cNvSpPr>
          <p:nvPr>
            <p:ph idx="1"/>
          </p:nvPr>
        </p:nvSpPr>
        <p:spPr/>
        <p:txBody>
          <a:bodyPr/>
          <a:lstStyle/>
          <a:p>
            <a:r>
              <a:rPr lang="en-US" altLang="ko-KR" b="0" i="0" dirty="0">
                <a:solidFill>
                  <a:srgbClr val="000000"/>
                </a:solidFill>
                <a:effectLst/>
              </a:rPr>
              <a:t>Online learning trains the system by injecting data one at a time or in small batches called mini-batch.</a:t>
            </a:r>
          </a:p>
          <a:p>
            <a:r>
              <a:rPr lang="en-US" altLang="ko-KR" b="0" i="0" dirty="0">
                <a:solidFill>
                  <a:srgbClr val="000000"/>
                </a:solidFill>
                <a:effectLst/>
              </a:rPr>
              <a:t>The data that has been learned is no longer needed, so you can throw it away.</a:t>
            </a:r>
            <a:endParaRPr lang="en-US" altLang="ko-KR" dirty="0">
              <a:solidFill>
                <a:srgbClr val="000000"/>
              </a:solidFill>
            </a:endParaRPr>
          </a:p>
          <a:p>
            <a:r>
              <a:rPr lang="en-US" altLang="ko-KR" b="0" i="0" dirty="0">
                <a:solidFill>
                  <a:srgbClr val="000000"/>
                </a:solidFill>
                <a:effectLst/>
              </a:rPr>
              <a:t>incremental learning algorithms can also be used for systems that learn very large datasets that cannot fit into the main memory of a single computer.</a:t>
            </a:r>
            <a:endParaRPr lang="ko-KR" altLang="en-US" dirty="0"/>
          </a:p>
          <a:p>
            <a:endParaRPr lang="en-US" altLang="ko-KR" b="0" i="0" dirty="0">
              <a:solidFill>
                <a:srgbClr val="000000"/>
              </a:solidFill>
              <a:effectLst/>
            </a:endParaRPr>
          </a:p>
        </p:txBody>
      </p:sp>
      <p:pic>
        <p:nvPicPr>
          <p:cNvPr id="4" name="그림 3">
            <a:extLst>
              <a:ext uri="{FF2B5EF4-FFF2-40B4-BE49-F238E27FC236}">
                <a16:creationId xmlns:a16="http://schemas.microsoft.com/office/drawing/2014/main" id="{A5C7DBF9-6141-46BC-A63B-EE3F8F9201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060848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7651001-AB4A-4AFC-ABE8-B359A50A37B6}"/>
              </a:ext>
            </a:extLst>
          </p:cNvPr>
          <p:cNvSpPr>
            <a:spLocks noGrp="1"/>
          </p:cNvSpPr>
          <p:nvPr>
            <p:ph type="title"/>
          </p:nvPr>
        </p:nvSpPr>
        <p:spPr/>
        <p:txBody>
          <a:bodyPr/>
          <a:lstStyle/>
          <a:p>
            <a:r>
              <a:rPr lang="en-US" altLang="ko-KR" dirty="0"/>
              <a:t>Case-based learning</a:t>
            </a:r>
            <a:endParaRPr lang="ko-KR" altLang="en-US" dirty="0"/>
          </a:p>
        </p:txBody>
      </p:sp>
      <p:sp>
        <p:nvSpPr>
          <p:cNvPr id="3" name="내용 개체 틀 2">
            <a:extLst>
              <a:ext uri="{FF2B5EF4-FFF2-40B4-BE49-F238E27FC236}">
                <a16:creationId xmlns:a16="http://schemas.microsoft.com/office/drawing/2014/main" id="{72607F51-F8B6-4630-A99D-3CE18D76CB90}"/>
              </a:ext>
            </a:extLst>
          </p:cNvPr>
          <p:cNvSpPr>
            <a:spLocks noGrp="1"/>
          </p:cNvSpPr>
          <p:nvPr>
            <p:ph idx="1"/>
          </p:nvPr>
        </p:nvSpPr>
        <p:spPr/>
        <p:txBody>
          <a:bodyPr/>
          <a:lstStyle/>
          <a:p>
            <a:r>
              <a:rPr lang="en-US" altLang="ko-KR" b="0" i="0" dirty="0">
                <a:solidFill>
                  <a:srgbClr val="000000"/>
                </a:solidFill>
                <a:effectLst/>
              </a:rPr>
              <a:t>Measure the similarity between the surrounding samples.</a:t>
            </a:r>
          </a:p>
          <a:p>
            <a:r>
              <a:rPr lang="en-US" altLang="ko-KR" b="0" i="0" dirty="0">
                <a:solidFill>
                  <a:srgbClr val="000000"/>
                </a:solidFill>
                <a:effectLst/>
              </a:rPr>
              <a:t>A representative example is the </a:t>
            </a:r>
            <a:r>
              <a:rPr lang="en-US" altLang="ko-KR" b="0" i="0" dirty="0" err="1">
                <a:solidFill>
                  <a:srgbClr val="000000"/>
                </a:solidFill>
                <a:effectLst/>
              </a:rPr>
              <a:t>kNN</a:t>
            </a:r>
            <a:r>
              <a:rPr lang="en-US" altLang="ko-KR" b="0" i="0" dirty="0">
                <a:solidFill>
                  <a:srgbClr val="000000"/>
                </a:solidFill>
                <a:effectLst/>
              </a:rPr>
              <a:t> algorithm.</a:t>
            </a:r>
            <a:endParaRPr lang="ko-KR" altLang="en-US" dirty="0"/>
          </a:p>
        </p:txBody>
      </p:sp>
      <p:pic>
        <p:nvPicPr>
          <p:cNvPr id="4" name="그림 3">
            <a:extLst>
              <a:ext uri="{FF2B5EF4-FFF2-40B4-BE49-F238E27FC236}">
                <a16:creationId xmlns:a16="http://schemas.microsoft.com/office/drawing/2014/main" id="{FE025228-D86A-4064-B1CA-6DC8C5E309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6" name="그림 5">
            <a:extLst>
              <a:ext uri="{FF2B5EF4-FFF2-40B4-BE49-F238E27FC236}">
                <a16:creationId xmlns:a16="http://schemas.microsoft.com/office/drawing/2014/main" id="{8505D877-B4C8-4FFB-9B49-CF84F595B4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9799" y="2963279"/>
            <a:ext cx="4272401" cy="3639453"/>
          </a:xfrm>
          <a:prstGeom prst="rect">
            <a:avLst/>
          </a:prstGeom>
        </p:spPr>
      </p:pic>
    </p:spTree>
    <p:extLst>
      <p:ext uri="{BB962C8B-B14F-4D97-AF65-F5344CB8AC3E}">
        <p14:creationId xmlns:p14="http://schemas.microsoft.com/office/powerpoint/2010/main" val="65908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7651001-AB4A-4AFC-ABE8-B359A50A37B6}"/>
              </a:ext>
            </a:extLst>
          </p:cNvPr>
          <p:cNvSpPr>
            <a:spLocks noGrp="1"/>
          </p:cNvSpPr>
          <p:nvPr>
            <p:ph type="title"/>
          </p:nvPr>
        </p:nvSpPr>
        <p:spPr/>
        <p:txBody>
          <a:bodyPr/>
          <a:lstStyle/>
          <a:p>
            <a:r>
              <a:rPr lang="en-US" altLang="ko-KR" dirty="0"/>
              <a:t>Model-based learning</a:t>
            </a:r>
            <a:endParaRPr lang="ko-KR" altLang="en-US" dirty="0"/>
          </a:p>
        </p:txBody>
      </p:sp>
      <p:sp>
        <p:nvSpPr>
          <p:cNvPr id="3" name="내용 개체 틀 2">
            <a:extLst>
              <a:ext uri="{FF2B5EF4-FFF2-40B4-BE49-F238E27FC236}">
                <a16:creationId xmlns:a16="http://schemas.microsoft.com/office/drawing/2014/main" id="{72607F51-F8B6-4630-A99D-3CE18D76CB90}"/>
              </a:ext>
            </a:extLst>
          </p:cNvPr>
          <p:cNvSpPr>
            <a:spLocks noGrp="1"/>
          </p:cNvSpPr>
          <p:nvPr>
            <p:ph idx="1"/>
          </p:nvPr>
        </p:nvSpPr>
        <p:spPr/>
        <p:txBody>
          <a:bodyPr/>
          <a:lstStyle/>
          <a:p>
            <a:r>
              <a:rPr lang="en-US" altLang="ko-KR" b="0" i="0" dirty="0">
                <a:solidFill>
                  <a:srgbClr val="000000"/>
                </a:solidFill>
                <a:effectLst/>
                <a:latin typeface="noto"/>
              </a:rPr>
              <a:t>A model of a given sample is made and used for prediction.</a:t>
            </a:r>
          </a:p>
          <a:p>
            <a:endParaRPr lang="ko-KR" altLang="en-US" dirty="0"/>
          </a:p>
        </p:txBody>
      </p:sp>
      <p:pic>
        <p:nvPicPr>
          <p:cNvPr id="4" name="그림 3">
            <a:extLst>
              <a:ext uri="{FF2B5EF4-FFF2-40B4-BE49-F238E27FC236}">
                <a16:creationId xmlns:a16="http://schemas.microsoft.com/office/drawing/2014/main" id="{FE025228-D86A-4064-B1CA-6DC8C5E309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6" name="그림 5">
            <a:extLst>
              <a:ext uri="{FF2B5EF4-FFF2-40B4-BE49-F238E27FC236}">
                <a16:creationId xmlns:a16="http://schemas.microsoft.com/office/drawing/2014/main" id="{EAA563BF-C4D7-41A0-9542-9775888831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2998" y="2570398"/>
            <a:ext cx="4566004" cy="2861791"/>
          </a:xfrm>
          <a:prstGeom prst="rect">
            <a:avLst/>
          </a:prstGeom>
        </p:spPr>
      </p:pic>
    </p:spTree>
    <p:extLst>
      <p:ext uri="{BB962C8B-B14F-4D97-AF65-F5344CB8AC3E}">
        <p14:creationId xmlns:p14="http://schemas.microsoft.com/office/powerpoint/2010/main" val="444595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7651001-AB4A-4AFC-ABE8-B359A50A37B6}"/>
              </a:ext>
            </a:extLst>
          </p:cNvPr>
          <p:cNvSpPr>
            <a:spLocks noGrp="1"/>
          </p:cNvSpPr>
          <p:nvPr>
            <p:ph type="title"/>
          </p:nvPr>
        </p:nvSpPr>
        <p:spPr/>
        <p:txBody>
          <a:bodyPr/>
          <a:lstStyle/>
          <a:p>
            <a:r>
              <a:rPr lang="en-US" altLang="ko-KR" dirty="0"/>
              <a:t>Model-based learning</a:t>
            </a:r>
            <a:br>
              <a:rPr lang="en-US" altLang="ko-KR" dirty="0"/>
            </a:br>
            <a:r>
              <a:rPr lang="en-US" altLang="ko-KR" sz="2400" dirty="0"/>
              <a:t>procedure</a:t>
            </a:r>
            <a:endParaRPr lang="ko-KR" altLang="en-US" dirty="0"/>
          </a:p>
        </p:txBody>
      </p:sp>
      <p:sp>
        <p:nvSpPr>
          <p:cNvPr id="3" name="내용 개체 틀 2">
            <a:extLst>
              <a:ext uri="{FF2B5EF4-FFF2-40B4-BE49-F238E27FC236}">
                <a16:creationId xmlns:a16="http://schemas.microsoft.com/office/drawing/2014/main" id="{72607F51-F8B6-4630-A99D-3CE18D76CB90}"/>
              </a:ext>
            </a:extLst>
          </p:cNvPr>
          <p:cNvSpPr>
            <a:spLocks noGrp="1"/>
          </p:cNvSpPr>
          <p:nvPr>
            <p:ph idx="1"/>
          </p:nvPr>
        </p:nvSpPr>
        <p:spPr/>
        <p:txBody>
          <a:bodyPr/>
          <a:lstStyle/>
          <a:p>
            <a:pPr marL="514350" indent="-514350">
              <a:buFont typeface="+mj-lt"/>
              <a:buAutoNum type="arabicPeriod"/>
            </a:pPr>
            <a:r>
              <a:rPr lang="en-US" altLang="ko-KR" dirty="0"/>
              <a:t>Analyze data</a:t>
            </a:r>
          </a:p>
          <a:p>
            <a:pPr marL="514350" indent="-514350">
              <a:buFont typeface="+mj-lt"/>
              <a:buAutoNum type="arabicPeriod"/>
            </a:pPr>
            <a:r>
              <a:rPr lang="en-US" altLang="ko-KR" dirty="0"/>
              <a:t>Select model</a:t>
            </a:r>
          </a:p>
          <a:p>
            <a:pPr marL="514350" indent="-514350">
              <a:buFont typeface="+mj-lt"/>
              <a:buAutoNum type="arabicPeriod"/>
            </a:pPr>
            <a:r>
              <a:rPr lang="en-US" altLang="ko-KR" dirty="0"/>
              <a:t>Train model using train data</a:t>
            </a:r>
          </a:p>
          <a:p>
            <a:pPr marL="514350" indent="-514350">
              <a:buFont typeface="+mj-lt"/>
              <a:buAutoNum type="arabicPeriod"/>
            </a:pPr>
            <a:r>
              <a:rPr lang="en-US" altLang="ko-KR" dirty="0"/>
              <a:t>Predict result and hope this model will generalized well</a:t>
            </a:r>
            <a:endParaRPr lang="ko-KR" altLang="en-US" dirty="0"/>
          </a:p>
        </p:txBody>
      </p:sp>
      <p:pic>
        <p:nvPicPr>
          <p:cNvPr id="4" name="그림 3">
            <a:extLst>
              <a:ext uri="{FF2B5EF4-FFF2-40B4-BE49-F238E27FC236}">
                <a16:creationId xmlns:a16="http://schemas.microsoft.com/office/drawing/2014/main" id="{FE025228-D86A-4064-B1CA-6DC8C5E309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00129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FB04C1C-606E-42F9-8A45-B6D7B61E81A1}"/>
              </a:ext>
            </a:extLst>
          </p:cNvPr>
          <p:cNvSpPr>
            <a:spLocks noGrp="1"/>
          </p:cNvSpPr>
          <p:nvPr>
            <p:ph type="title"/>
          </p:nvPr>
        </p:nvSpPr>
        <p:spPr/>
        <p:txBody>
          <a:bodyPr/>
          <a:lstStyle/>
          <a:p>
            <a:r>
              <a:rPr lang="en-US" altLang="ko-KR" dirty="0"/>
              <a:t>Key challenges in Machine Learning</a:t>
            </a:r>
            <a:endParaRPr lang="ko-KR" altLang="en-US" dirty="0"/>
          </a:p>
        </p:txBody>
      </p:sp>
      <p:sp>
        <p:nvSpPr>
          <p:cNvPr id="3" name="내용 개체 틀 2">
            <a:extLst>
              <a:ext uri="{FF2B5EF4-FFF2-40B4-BE49-F238E27FC236}">
                <a16:creationId xmlns:a16="http://schemas.microsoft.com/office/drawing/2014/main" id="{145A6DB2-217E-4586-9E95-367E8596BB40}"/>
              </a:ext>
            </a:extLst>
          </p:cNvPr>
          <p:cNvSpPr>
            <a:spLocks noGrp="1"/>
          </p:cNvSpPr>
          <p:nvPr>
            <p:ph idx="1"/>
          </p:nvPr>
        </p:nvSpPr>
        <p:spPr/>
        <p:txBody>
          <a:bodyPr/>
          <a:lstStyle/>
          <a:p>
            <a:r>
              <a:rPr lang="en-US" altLang="ko-KR" dirty="0"/>
              <a:t>Not enough training data</a:t>
            </a:r>
          </a:p>
          <a:p>
            <a:r>
              <a:rPr lang="en-US" altLang="ko-KR" dirty="0"/>
              <a:t>Unrepresentative training data</a:t>
            </a:r>
          </a:p>
          <a:p>
            <a:r>
              <a:rPr lang="en-US" altLang="ko-KR" dirty="0"/>
              <a:t>Low quality data</a:t>
            </a:r>
          </a:p>
          <a:p>
            <a:r>
              <a:rPr lang="en-US" altLang="ko-KR" dirty="0"/>
              <a:t>Irrelevant characteristics</a:t>
            </a:r>
          </a:p>
          <a:p>
            <a:r>
              <a:rPr lang="en-US" altLang="ko-KR" dirty="0"/>
              <a:t>Over-fitting</a:t>
            </a:r>
          </a:p>
          <a:p>
            <a:r>
              <a:rPr lang="en-US" altLang="ko-KR" dirty="0"/>
              <a:t>Under-fitting</a:t>
            </a:r>
          </a:p>
          <a:p>
            <a:endParaRPr lang="en-US" altLang="ko-KR" dirty="0"/>
          </a:p>
        </p:txBody>
      </p:sp>
      <p:pic>
        <p:nvPicPr>
          <p:cNvPr id="4" name="그림 3">
            <a:extLst>
              <a:ext uri="{FF2B5EF4-FFF2-40B4-BE49-F238E27FC236}">
                <a16:creationId xmlns:a16="http://schemas.microsoft.com/office/drawing/2014/main" id="{01F0FC65-6CEA-4F78-B576-C69F12CAEB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36551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BC0BDF5-1F35-4B2B-9AAC-9B73F1DCAF52}"/>
              </a:ext>
            </a:extLst>
          </p:cNvPr>
          <p:cNvSpPr>
            <a:spLocks noGrp="1"/>
          </p:cNvSpPr>
          <p:nvPr>
            <p:ph type="title"/>
          </p:nvPr>
        </p:nvSpPr>
        <p:spPr/>
        <p:txBody>
          <a:bodyPr/>
          <a:lstStyle/>
          <a:p>
            <a:r>
              <a:rPr lang="en-US" altLang="ko-KR" dirty="0"/>
              <a:t>Not enough training data</a:t>
            </a:r>
            <a:endParaRPr lang="ko-KR" altLang="en-US" dirty="0"/>
          </a:p>
        </p:txBody>
      </p:sp>
      <p:sp>
        <p:nvSpPr>
          <p:cNvPr id="3" name="내용 개체 틀 2">
            <a:extLst>
              <a:ext uri="{FF2B5EF4-FFF2-40B4-BE49-F238E27FC236}">
                <a16:creationId xmlns:a16="http://schemas.microsoft.com/office/drawing/2014/main" id="{53076870-3A43-4CD0-A520-96DB0EFCDEE8}"/>
              </a:ext>
            </a:extLst>
          </p:cNvPr>
          <p:cNvSpPr>
            <a:spLocks noGrp="1"/>
          </p:cNvSpPr>
          <p:nvPr>
            <p:ph idx="1"/>
          </p:nvPr>
        </p:nvSpPr>
        <p:spPr/>
        <p:txBody>
          <a:bodyPr/>
          <a:lstStyle/>
          <a:p>
            <a:r>
              <a:rPr lang="en-US" altLang="ko-KR" b="0" i="0" dirty="0">
                <a:solidFill>
                  <a:srgbClr val="000000"/>
                </a:solidFill>
                <a:effectLst/>
              </a:rPr>
              <a:t>Machine learning algorithms need a lot of data to work well.</a:t>
            </a:r>
          </a:p>
          <a:p>
            <a:r>
              <a:rPr lang="en-US" altLang="ko-KR" b="0" i="0" dirty="0">
                <a:solidFill>
                  <a:srgbClr val="000000"/>
                </a:solidFill>
                <a:effectLst/>
              </a:rPr>
              <a:t>A very simple problem also requires thousands of data.</a:t>
            </a:r>
            <a:endParaRPr lang="en-US" altLang="ko-KR" dirty="0">
              <a:solidFill>
                <a:srgbClr val="000000"/>
              </a:solidFill>
            </a:endParaRPr>
          </a:p>
          <a:p>
            <a:r>
              <a:rPr lang="en-US" altLang="ko-KR" b="0" i="0" dirty="0">
                <a:solidFill>
                  <a:srgbClr val="000000"/>
                </a:solidFill>
                <a:effectLst/>
              </a:rPr>
              <a:t>Complex problems such as image and speech recognition may require millions of data.</a:t>
            </a:r>
            <a:endParaRPr lang="ko-KR" altLang="en-US" dirty="0"/>
          </a:p>
        </p:txBody>
      </p:sp>
      <p:pic>
        <p:nvPicPr>
          <p:cNvPr id="4" name="그림 3">
            <a:extLst>
              <a:ext uri="{FF2B5EF4-FFF2-40B4-BE49-F238E27FC236}">
                <a16:creationId xmlns:a16="http://schemas.microsoft.com/office/drawing/2014/main" id="{5AB6C3E2-63CC-46AC-AB5E-88F63BDDB0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5" name="그림 4">
            <a:extLst>
              <a:ext uri="{FF2B5EF4-FFF2-40B4-BE49-F238E27FC236}">
                <a16:creationId xmlns:a16="http://schemas.microsoft.com/office/drawing/2014/main" id="{BF991970-7C2A-483C-96FC-3804482BDF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3716" y="3428999"/>
            <a:ext cx="3031958" cy="2881517"/>
          </a:xfrm>
          <a:prstGeom prst="rect">
            <a:avLst/>
          </a:prstGeom>
        </p:spPr>
      </p:pic>
    </p:spTree>
    <p:extLst>
      <p:ext uri="{BB962C8B-B14F-4D97-AF65-F5344CB8AC3E}">
        <p14:creationId xmlns:p14="http://schemas.microsoft.com/office/powerpoint/2010/main" val="841377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BC0BDF5-1F35-4B2B-9AAC-9B73F1DCAF52}"/>
              </a:ext>
            </a:extLst>
          </p:cNvPr>
          <p:cNvSpPr>
            <a:spLocks noGrp="1"/>
          </p:cNvSpPr>
          <p:nvPr>
            <p:ph type="title"/>
          </p:nvPr>
        </p:nvSpPr>
        <p:spPr/>
        <p:txBody>
          <a:bodyPr/>
          <a:lstStyle/>
          <a:p>
            <a:r>
              <a:rPr lang="en-US" altLang="ko-KR" dirty="0"/>
              <a:t>Unrepresentative training data</a:t>
            </a:r>
            <a:endParaRPr lang="ko-KR" altLang="en-US" dirty="0"/>
          </a:p>
        </p:txBody>
      </p:sp>
      <p:sp>
        <p:nvSpPr>
          <p:cNvPr id="3" name="내용 개체 틀 2">
            <a:extLst>
              <a:ext uri="{FF2B5EF4-FFF2-40B4-BE49-F238E27FC236}">
                <a16:creationId xmlns:a16="http://schemas.microsoft.com/office/drawing/2014/main" id="{53076870-3A43-4CD0-A520-96DB0EFCDEE8}"/>
              </a:ext>
            </a:extLst>
          </p:cNvPr>
          <p:cNvSpPr>
            <a:spLocks noGrp="1"/>
          </p:cNvSpPr>
          <p:nvPr>
            <p:ph idx="1"/>
          </p:nvPr>
        </p:nvSpPr>
        <p:spPr/>
        <p:txBody>
          <a:bodyPr/>
          <a:lstStyle/>
          <a:p>
            <a:r>
              <a:rPr lang="en-US" altLang="ko-KR" b="0" i="0" dirty="0">
                <a:solidFill>
                  <a:srgbClr val="000000"/>
                </a:solidFill>
                <a:effectLst/>
              </a:rPr>
              <a:t>If the sample is small, sampling noise (Unrepresentative data by chance) is generated.</a:t>
            </a:r>
          </a:p>
          <a:p>
            <a:r>
              <a:rPr lang="en-US" altLang="ko-KR" b="0" i="0" dirty="0">
                <a:solidFill>
                  <a:srgbClr val="000000"/>
                </a:solidFill>
                <a:effectLst/>
              </a:rPr>
              <a:t>Even very large samples may not be representative if the sampling method is incorrect.</a:t>
            </a:r>
            <a:endParaRPr lang="ko-KR" altLang="en-US" dirty="0"/>
          </a:p>
        </p:txBody>
      </p:sp>
      <p:pic>
        <p:nvPicPr>
          <p:cNvPr id="4" name="그림 3">
            <a:extLst>
              <a:ext uri="{FF2B5EF4-FFF2-40B4-BE49-F238E27FC236}">
                <a16:creationId xmlns:a16="http://schemas.microsoft.com/office/drawing/2014/main" id="{5AB6C3E2-63CC-46AC-AB5E-88F63BDDB0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85191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BC0BDF5-1F35-4B2B-9AAC-9B73F1DCAF52}"/>
              </a:ext>
            </a:extLst>
          </p:cNvPr>
          <p:cNvSpPr>
            <a:spLocks noGrp="1"/>
          </p:cNvSpPr>
          <p:nvPr>
            <p:ph type="title"/>
          </p:nvPr>
        </p:nvSpPr>
        <p:spPr/>
        <p:txBody>
          <a:bodyPr/>
          <a:lstStyle/>
          <a:p>
            <a:r>
              <a:rPr lang="en-US" altLang="ko-KR" dirty="0"/>
              <a:t>Low quality data</a:t>
            </a:r>
            <a:endParaRPr lang="ko-KR" altLang="en-US" dirty="0"/>
          </a:p>
        </p:txBody>
      </p:sp>
      <p:sp>
        <p:nvSpPr>
          <p:cNvPr id="3" name="내용 개체 틀 2">
            <a:extLst>
              <a:ext uri="{FF2B5EF4-FFF2-40B4-BE49-F238E27FC236}">
                <a16:creationId xmlns:a16="http://schemas.microsoft.com/office/drawing/2014/main" id="{53076870-3A43-4CD0-A520-96DB0EFCDEE8}"/>
              </a:ext>
            </a:extLst>
          </p:cNvPr>
          <p:cNvSpPr>
            <a:spLocks noGrp="1"/>
          </p:cNvSpPr>
          <p:nvPr>
            <p:ph idx="1"/>
          </p:nvPr>
        </p:nvSpPr>
        <p:spPr/>
        <p:txBody>
          <a:bodyPr/>
          <a:lstStyle/>
          <a:p>
            <a:r>
              <a:rPr lang="en-US" altLang="ko-KR" b="0" i="0" dirty="0">
                <a:solidFill>
                  <a:srgbClr val="000000"/>
                </a:solidFill>
                <a:effectLst/>
              </a:rPr>
              <a:t>If the training data is full of errors, outliers, and noise, it is difficult to find patterns with built-in machine learning systems and does not work well.</a:t>
            </a:r>
          </a:p>
          <a:p>
            <a:r>
              <a:rPr lang="en-US" altLang="ko-KR" b="0" i="0" dirty="0">
                <a:solidFill>
                  <a:srgbClr val="000000"/>
                </a:solidFill>
                <a:effectLst/>
              </a:rPr>
              <a:t>So training data purification is important.</a:t>
            </a:r>
          </a:p>
          <a:p>
            <a:pPr lvl="1"/>
            <a:r>
              <a:rPr lang="en-US" altLang="ko-KR" b="0" i="0" dirty="0">
                <a:solidFill>
                  <a:srgbClr val="000000"/>
                </a:solidFill>
                <a:effectLst/>
              </a:rPr>
              <a:t>If you are certain that some samples are outliers, it is recommended that you ignore them or correct them manually.</a:t>
            </a:r>
            <a:endParaRPr lang="en-US" altLang="ko-KR" dirty="0">
              <a:solidFill>
                <a:srgbClr val="000000"/>
              </a:solidFill>
            </a:endParaRPr>
          </a:p>
          <a:p>
            <a:pPr lvl="1"/>
            <a:r>
              <a:rPr lang="en-US" altLang="ko-KR" b="0" i="0" dirty="0">
                <a:solidFill>
                  <a:srgbClr val="000000"/>
                </a:solidFill>
                <a:effectLst/>
              </a:rPr>
              <a:t>If some samples are missing a few attributes, it is necessary to decide whether to ignore all of these attributes, ignore this sample, fill in the missing values, or train the model separately from the model with this attribute.</a:t>
            </a:r>
            <a:endParaRPr lang="ko-KR" altLang="en-US" dirty="0"/>
          </a:p>
        </p:txBody>
      </p:sp>
      <p:pic>
        <p:nvPicPr>
          <p:cNvPr id="4" name="그림 3">
            <a:extLst>
              <a:ext uri="{FF2B5EF4-FFF2-40B4-BE49-F238E27FC236}">
                <a16:creationId xmlns:a16="http://schemas.microsoft.com/office/drawing/2014/main" id="{5AB6C3E2-63CC-46AC-AB5E-88F63BDDB0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0655037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BC0BDF5-1F35-4B2B-9AAC-9B73F1DCAF52}"/>
              </a:ext>
            </a:extLst>
          </p:cNvPr>
          <p:cNvSpPr>
            <a:spLocks noGrp="1"/>
          </p:cNvSpPr>
          <p:nvPr>
            <p:ph type="title"/>
          </p:nvPr>
        </p:nvSpPr>
        <p:spPr/>
        <p:txBody>
          <a:bodyPr/>
          <a:lstStyle/>
          <a:p>
            <a:r>
              <a:rPr lang="en-US" altLang="ko-KR" dirty="0" err="1"/>
              <a:t>Irrelavant</a:t>
            </a:r>
            <a:r>
              <a:rPr lang="en-US" altLang="ko-KR" dirty="0"/>
              <a:t> training data</a:t>
            </a:r>
            <a:endParaRPr lang="ko-KR" altLang="en-US" dirty="0"/>
          </a:p>
        </p:txBody>
      </p:sp>
      <p:sp>
        <p:nvSpPr>
          <p:cNvPr id="3" name="내용 개체 틀 2">
            <a:extLst>
              <a:ext uri="{FF2B5EF4-FFF2-40B4-BE49-F238E27FC236}">
                <a16:creationId xmlns:a16="http://schemas.microsoft.com/office/drawing/2014/main" id="{53076870-3A43-4CD0-A520-96DB0EFCDEE8}"/>
              </a:ext>
            </a:extLst>
          </p:cNvPr>
          <p:cNvSpPr>
            <a:spLocks noGrp="1"/>
          </p:cNvSpPr>
          <p:nvPr>
            <p:ph idx="1"/>
          </p:nvPr>
        </p:nvSpPr>
        <p:spPr/>
        <p:txBody>
          <a:bodyPr/>
          <a:lstStyle/>
          <a:p>
            <a:r>
              <a:rPr lang="en-US" altLang="ko-KR" b="0" i="0" dirty="0">
                <a:solidFill>
                  <a:srgbClr val="000000"/>
                </a:solidFill>
                <a:effectLst/>
              </a:rPr>
              <a:t>Feature selection: Choose the most useful characteristic for training among the characteristics you have.</a:t>
            </a:r>
          </a:p>
          <a:p>
            <a:r>
              <a:rPr lang="en-US" altLang="ko-KR" dirty="0">
                <a:solidFill>
                  <a:srgbClr val="000000"/>
                </a:solidFill>
              </a:rPr>
              <a:t>Feature extraction: </a:t>
            </a:r>
            <a:r>
              <a:rPr lang="en-US" altLang="ko-KR" b="0" i="0" dirty="0">
                <a:solidFill>
                  <a:srgbClr val="000000"/>
                </a:solidFill>
                <a:effectLst/>
              </a:rPr>
              <a:t>Combining properties creates more useful properties. Representatively, dimension reduction algorithms can be helpful.</a:t>
            </a:r>
            <a:endParaRPr lang="ko-KR" altLang="en-US" dirty="0"/>
          </a:p>
        </p:txBody>
      </p:sp>
      <p:pic>
        <p:nvPicPr>
          <p:cNvPr id="4" name="그림 3">
            <a:extLst>
              <a:ext uri="{FF2B5EF4-FFF2-40B4-BE49-F238E27FC236}">
                <a16:creationId xmlns:a16="http://schemas.microsoft.com/office/drawing/2014/main" id="{5AB6C3E2-63CC-46AC-AB5E-88F63BDDB0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956441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BC0BDF5-1F35-4B2B-9AAC-9B73F1DCAF52}"/>
              </a:ext>
            </a:extLst>
          </p:cNvPr>
          <p:cNvSpPr>
            <a:spLocks noGrp="1"/>
          </p:cNvSpPr>
          <p:nvPr>
            <p:ph type="title"/>
          </p:nvPr>
        </p:nvSpPr>
        <p:spPr/>
        <p:txBody>
          <a:bodyPr/>
          <a:lstStyle/>
          <a:p>
            <a:r>
              <a:rPr lang="en-US" altLang="ko-KR" dirty="0"/>
              <a:t>Over-fitting</a:t>
            </a:r>
            <a:endParaRPr lang="ko-KR" altLang="en-US" dirty="0"/>
          </a:p>
        </p:txBody>
      </p:sp>
      <p:sp>
        <p:nvSpPr>
          <p:cNvPr id="3" name="내용 개체 틀 2">
            <a:extLst>
              <a:ext uri="{FF2B5EF4-FFF2-40B4-BE49-F238E27FC236}">
                <a16:creationId xmlns:a16="http://schemas.microsoft.com/office/drawing/2014/main" id="{53076870-3A43-4CD0-A520-96DB0EFCDEE8}"/>
              </a:ext>
            </a:extLst>
          </p:cNvPr>
          <p:cNvSpPr>
            <a:spLocks noGrp="1"/>
          </p:cNvSpPr>
          <p:nvPr>
            <p:ph idx="1"/>
          </p:nvPr>
        </p:nvSpPr>
        <p:spPr/>
        <p:txBody>
          <a:bodyPr/>
          <a:lstStyle/>
          <a:p>
            <a:r>
              <a:rPr lang="en-US" altLang="ko-KR" b="0" i="0" dirty="0">
                <a:solidFill>
                  <a:srgbClr val="000000"/>
                </a:solidFill>
                <a:effectLst/>
              </a:rPr>
              <a:t>The accuracy of the training data is good, but it is called overfitting because an error may occur in an actual test.</a:t>
            </a:r>
          </a:p>
          <a:p>
            <a:r>
              <a:rPr lang="en-US" altLang="ko-KR" b="0" i="0" dirty="0">
                <a:solidFill>
                  <a:srgbClr val="000000"/>
                </a:solidFill>
                <a:effectLst/>
              </a:rPr>
              <a:t>Constraining the model to reduce the risk of overfitting is called regularization.</a:t>
            </a:r>
            <a:endParaRPr lang="ko-KR" altLang="en-US" dirty="0"/>
          </a:p>
        </p:txBody>
      </p:sp>
      <p:pic>
        <p:nvPicPr>
          <p:cNvPr id="4" name="그림 3">
            <a:extLst>
              <a:ext uri="{FF2B5EF4-FFF2-40B4-BE49-F238E27FC236}">
                <a16:creationId xmlns:a16="http://schemas.microsoft.com/office/drawing/2014/main" id="{5AB6C3E2-63CC-46AC-AB5E-88F63BDDB0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512650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BC0BDF5-1F35-4B2B-9AAC-9B73F1DCAF52}"/>
              </a:ext>
            </a:extLst>
          </p:cNvPr>
          <p:cNvSpPr>
            <a:spLocks noGrp="1"/>
          </p:cNvSpPr>
          <p:nvPr>
            <p:ph type="title"/>
          </p:nvPr>
        </p:nvSpPr>
        <p:spPr/>
        <p:txBody>
          <a:bodyPr/>
          <a:lstStyle/>
          <a:p>
            <a:r>
              <a:rPr lang="en-US" altLang="ko-KR" dirty="0"/>
              <a:t>Under-fitting</a:t>
            </a:r>
            <a:endParaRPr lang="ko-KR" altLang="en-US" dirty="0"/>
          </a:p>
        </p:txBody>
      </p:sp>
      <p:sp>
        <p:nvSpPr>
          <p:cNvPr id="3" name="내용 개체 틀 2">
            <a:extLst>
              <a:ext uri="{FF2B5EF4-FFF2-40B4-BE49-F238E27FC236}">
                <a16:creationId xmlns:a16="http://schemas.microsoft.com/office/drawing/2014/main" id="{53076870-3A43-4CD0-A520-96DB0EFCDEE8}"/>
              </a:ext>
            </a:extLst>
          </p:cNvPr>
          <p:cNvSpPr>
            <a:spLocks noGrp="1"/>
          </p:cNvSpPr>
          <p:nvPr>
            <p:ph idx="1"/>
          </p:nvPr>
        </p:nvSpPr>
        <p:spPr/>
        <p:txBody>
          <a:bodyPr/>
          <a:lstStyle/>
          <a:p>
            <a:r>
              <a:rPr lang="en-US" altLang="ko-KR" b="0" i="0" dirty="0">
                <a:solidFill>
                  <a:srgbClr val="000000"/>
                </a:solidFill>
                <a:effectLst/>
              </a:rPr>
              <a:t>Under-fitting occurs when the model is too simple to learn the inherent structure of the data.</a:t>
            </a:r>
          </a:p>
          <a:p>
            <a:endParaRPr lang="en-US" altLang="ko-KR" dirty="0">
              <a:solidFill>
                <a:srgbClr val="000000"/>
              </a:solidFill>
            </a:endParaRPr>
          </a:p>
          <a:p>
            <a:r>
              <a:rPr lang="en-US" altLang="ko-KR" b="0" i="0" dirty="0">
                <a:solidFill>
                  <a:srgbClr val="000000"/>
                </a:solidFill>
                <a:effectLst/>
              </a:rPr>
              <a:t>Key techniques to address this issue</a:t>
            </a:r>
          </a:p>
          <a:p>
            <a:pPr lvl="1"/>
            <a:r>
              <a:rPr lang="en-US" altLang="ko-KR" b="0" i="0" dirty="0">
                <a:solidFill>
                  <a:srgbClr val="000000"/>
                </a:solidFill>
                <a:effectLst/>
              </a:rPr>
              <a:t>We select a robust model with more model parameters.</a:t>
            </a:r>
            <a:endParaRPr lang="en-US" altLang="ko-KR" dirty="0">
              <a:solidFill>
                <a:srgbClr val="000000"/>
              </a:solidFill>
            </a:endParaRPr>
          </a:p>
          <a:p>
            <a:pPr lvl="1"/>
            <a:r>
              <a:rPr lang="en-US" altLang="ko-KR" b="0" i="0" dirty="0">
                <a:solidFill>
                  <a:srgbClr val="000000"/>
                </a:solidFill>
                <a:effectLst/>
              </a:rPr>
              <a:t>It provides better properties for learning algorithms.</a:t>
            </a:r>
          </a:p>
          <a:p>
            <a:pPr lvl="1"/>
            <a:r>
              <a:rPr lang="en-US" altLang="ko-KR" b="0" i="0" dirty="0">
                <a:solidFill>
                  <a:srgbClr val="000000"/>
                </a:solidFill>
                <a:effectLst/>
              </a:rPr>
              <a:t>Reduce the constraints of the model.</a:t>
            </a:r>
            <a:endParaRPr lang="ko-KR" altLang="en-US" dirty="0"/>
          </a:p>
        </p:txBody>
      </p:sp>
      <p:pic>
        <p:nvPicPr>
          <p:cNvPr id="4" name="그림 3">
            <a:extLst>
              <a:ext uri="{FF2B5EF4-FFF2-40B4-BE49-F238E27FC236}">
                <a16:creationId xmlns:a16="http://schemas.microsoft.com/office/drawing/2014/main" id="{5AB6C3E2-63CC-46AC-AB5E-88F63BDDB0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3101483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C1C7152-971D-432D-97D7-2D3E6EC24DBC}"/>
              </a:ext>
            </a:extLst>
          </p:cNvPr>
          <p:cNvSpPr>
            <a:spLocks noGrp="1"/>
          </p:cNvSpPr>
          <p:nvPr>
            <p:ph type="title"/>
          </p:nvPr>
        </p:nvSpPr>
        <p:spPr/>
        <p:txBody>
          <a:bodyPr/>
          <a:lstStyle/>
          <a:p>
            <a:r>
              <a:rPr lang="en-US" altLang="ko-KR" dirty="0"/>
              <a:t>Test and Validation</a:t>
            </a:r>
            <a:endParaRPr lang="ko-KR" altLang="en-US" dirty="0"/>
          </a:p>
        </p:txBody>
      </p:sp>
      <p:sp>
        <p:nvSpPr>
          <p:cNvPr id="3" name="내용 개체 틀 2">
            <a:extLst>
              <a:ext uri="{FF2B5EF4-FFF2-40B4-BE49-F238E27FC236}">
                <a16:creationId xmlns:a16="http://schemas.microsoft.com/office/drawing/2014/main" id="{F82BEDF5-E6CE-4129-99F2-1A2BB399979A}"/>
              </a:ext>
            </a:extLst>
          </p:cNvPr>
          <p:cNvSpPr>
            <a:spLocks noGrp="1"/>
          </p:cNvSpPr>
          <p:nvPr>
            <p:ph idx="1"/>
          </p:nvPr>
        </p:nvSpPr>
        <p:spPr/>
        <p:txBody>
          <a:bodyPr/>
          <a:lstStyle/>
          <a:p>
            <a:r>
              <a:rPr lang="en-US" altLang="ko-KR" dirty="0"/>
              <a:t>Holdout Validation: </a:t>
            </a:r>
            <a:r>
              <a:rPr lang="en-US" altLang="ko-KR" b="0" i="0" dirty="0">
                <a:solidFill>
                  <a:srgbClr val="000000"/>
                </a:solidFill>
                <a:effectLst/>
              </a:rPr>
              <a:t>We evaluate several candidate models by tearing off part of the training set and choose the best one.</a:t>
            </a:r>
          </a:p>
          <a:p>
            <a:pPr lvl="1"/>
            <a:r>
              <a:rPr lang="en-US" altLang="ko-KR" dirty="0">
                <a:solidFill>
                  <a:srgbClr val="000000"/>
                </a:solidFill>
              </a:rPr>
              <a:t>Training data: dataset to train</a:t>
            </a:r>
          </a:p>
          <a:p>
            <a:pPr lvl="1"/>
            <a:r>
              <a:rPr lang="en-US" altLang="ko-KR" dirty="0">
                <a:solidFill>
                  <a:srgbClr val="000000"/>
                </a:solidFill>
              </a:rPr>
              <a:t>Test data: dataset to test</a:t>
            </a:r>
          </a:p>
          <a:p>
            <a:r>
              <a:rPr lang="en-US" altLang="ko-KR" dirty="0">
                <a:solidFill>
                  <a:srgbClr val="000000"/>
                </a:solidFill>
              </a:rPr>
              <a:t>Cross Validation: </a:t>
            </a:r>
            <a:r>
              <a:rPr lang="en-US" altLang="ko-KR" b="0" i="0" dirty="0">
                <a:solidFill>
                  <a:srgbClr val="000000"/>
                </a:solidFill>
                <a:effectLst/>
              </a:rPr>
              <a:t>For each validation set, models trained from the rest of the data are evaluated on that validation set.</a:t>
            </a:r>
            <a:endParaRPr lang="ko-KR" altLang="en-US" dirty="0"/>
          </a:p>
        </p:txBody>
      </p:sp>
      <p:pic>
        <p:nvPicPr>
          <p:cNvPr id="4" name="그림 3">
            <a:extLst>
              <a:ext uri="{FF2B5EF4-FFF2-40B4-BE49-F238E27FC236}">
                <a16:creationId xmlns:a16="http://schemas.microsoft.com/office/drawing/2014/main" id="{FEA1DA4B-D171-46E7-9CD2-CBD208DAFD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6" name="그림 5">
            <a:extLst>
              <a:ext uri="{FF2B5EF4-FFF2-40B4-BE49-F238E27FC236}">
                <a16:creationId xmlns:a16="http://schemas.microsoft.com/office/drawing/2014/main" id="{2CD161FF-27A9-4FC1-A19F-121D92A7E6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3655" y="4360339"/>
            <a:ext cx="5084690" cy="2397298"/>
          </a:xfrm>
          <a:prstGeom prst="rect">
            <a:avLst/>
          </a:prstGeom>
        </p:spPr>
      </p:pic>
    </p:spTree>
    <p:extLst>
      <p:ext uri="{BB962C8B-B14F-4D97-AF65-F5344CB8AC3E}">
        <p14:creationId xmlns:p14="http://schemas.microsoft.com/office/powerpoint/2010/main" val="36797739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F3CFF0-EC87-4E23-8B32-15161A93817E}"/>
              </a:ext>
            </a:extLst>
          </p:cNvPr>
          <p:cNvSpPr>
            <a:spLocks noGrp="1"/>
          </p:cNvSpPr>
          <p:nvPr>
            <p:ph type="title"/>
          </p:nvPr>
        </p:nvSpPr>
        <p:spPr/>
        <p:txBody>
          <a:bodyPr/>
          <a:lstStyle/>
          <a:p>
            <a:r>
              <a:rPr lang="en-US" altLang="ko-KR" dirty="0"/>
              <a:t>Practice problem</a:t>
            </a:r>
            <a:endParaRPr lang="ko-KR" altLang="en-US" dirty="0"/>
          </a:p>
        </p:txBody>
      </p:sp>
      <p:sp>
        <p:nvSpPr>
          <p:cNvPr id="3" name="텍스트 개체 틀 2">
            <a:extLst>
              <a:ext uri="{FF2B5EF4-FFF2-40B4-BE49-F238E27FC236}">
                <a16:creationId xmlns:a16="http://schemas.microsoft.com/office/drawing/2014/main" id="{C19A6942-84D8-4090-8823-C86F9F594F2B}"/>
              </a:ext>
            </a:extLst>
          </p:cNvPr>
          <p:cNvSpPr>
            <a:spLocks noGrp="1"/>
          </p:cNvSpPr>
          <p:nvPr>
            <p:ph type="body" idx="1"/>
          </p:nvPr>
        </p:nvSpPr>
        <p:spPr/>
        <p:txBody>
          <a:bodyPr>
            <a:normAutofit fontScale="92500"/>
          </a:bodyPr>
          <a:lstStyle/>
          <a:p>
            <a:r>
              <a:rPr lang="en-US" altLang="ko-KR" dirty="0"/>
              <a:t>1. How can I define</a:t>
            </a:r>
            <a:r>
              <a:rPr lang="ko-KR" altLang="en-US" dirty="0"/>
              <a:t> </a:t>
            </a:r>
            <a:r>
              <a:rPr lang="en-US" altLang="ko-KR" dirty="0"/>
              <a:t>machine</a:t>
            </a:r>
            <a:r>
              <a:rPr lang="ko-KR" altLang="en-US" dirty="0"/>
              <a:t> </a:t>
            </a:r>
            <a:r>
              <a:rPr lang="en-US" altLang="ko-KR" dirty="0"/>
              <a:t>learning</a:t>
            </a:r>
          </a:p>
        </p:txBody>
      </p:sp>
      <p:sp>
        <p:nvSpPr>
          <p:cNvPr id="4" name="내용 개체 틀 3">
            <a:extLst>
              <a:ext uri="{FF2B5EF4-FFF2-40B4-BE49-F238E27FC236}">
                <a16:creationId xmlns:a16="http://schemas.microsoft.com/office/drawing/2014/main" id="{CB0A24F8-6CCB-4DA2-BCB0-7247F3EAE79A}"/>
              </a:ext>
            </a:extLst>
          </p:cNvPr>
          <p:cNvSpPr>
            <a:spLocks noGrp="1"/>
          </p:cNvSpPr>
          <p:nvPr>
            <p:ph sz="half" idx="2"/>
          </p:nvPr>
        </p:nvSpPr>
        <p:spPr>
          <a:xfrm>
            <a:off x="839788" y="2505074"/>
            <a:ext cx="5157787" cy="3684587"/>
          </a:xfrm>
        </p:spPr>
        <p:txBody>
          <a:bodyPr>
            <a:normAutofit fontScale="92500" lnSpcReduction="20000"/>
          </a:bodyPr>
          <a:lstStyle/>
          <a:p>
            <a:r>
              <a:rPr lang="en-US" altLang="ko-KR" b="0" i="0" dirty="0">
                <a:solidFill>
                  <a:srgbClr val="000000"/>
                </a:solidFill>
                <a:effectLst/>
              </a:rPr>
              <a:t>It is a research field that allows computers to have the ability to learn without explicit programming.</a:t>
            </a:r>
          </a:p>
          <a:p>
            <a:endParaRPr lang="ko-KR" altLang="en-US" dirty="0"/>
          </a:p>
        </p:txBody>
      </p:sp>
      <p:sp>
        <p:nvSpPr>
          <p:cNvPr id="5" name="텍스트 개체 틀 4">
            <a:extLst>
              <a:ext uri="{FF2B5EF4-FFF2-40B4-BE49-F238E27FC236}">
                <a16:creationId xmlns:a16="http://schemas.microsoft.com/office/drawing/2014/main" id="{98E45449-1BD7-4564-A8A2-FD609081E637}"/>
              </a:ext>
            </a:extLst>
          </p:cNvPr>
          <p:cNvSpPr>
            <a:spLocks noGrp="1"/>
          </p:cNvSpPr>
          <p:nvPr>
            <p:ph type="body" sz="quarter" idx="3"/>
          </p:nvPr>
        </p:nvSpPr>
        <p:spPr/>
        <p:txBody>
          <a:bodyPr>
            <a:normAutofit fontScale="92500"/>
          </a:bodyPr>
          <a:lstStyle/>
          <a:p>
            <a:r>
              <a:rPr lang="en-US" altLang="ko-KR" dirty="0"/>
              <a:t>2. Name four types of problems that machine learning can help you with</a:t>
            </a:r>
            <a:endParaRPr lang="ko-KR" altLang="en-US" dirty="0"/>
          </a:p>
        </p:txBody>
      </p:sp>
      <p:sp>
        <p:nvSpPr>
          <p:cNvPr id="6" name="내용 개체 틀 5">
            <a:extLst>
              <a:ext uri="{FF2B5EF4-FFF2-40B4-BE49-F238E27FC236}">
                <a16:creationId xmlns:a16="http://schemas.microsoft.com/office/drawing/2014/main" id="{8E721321-27C7-4C68-B626-576CC889C97F}"/>
              </a:ext>
            </a:extLst>
          </p:cNvPr>
          <p:cNvSpPr>
            <a:spLocks noGrp="1"/>
          </p:cNvSpPr>
          <p:nvPr>
            <p:ph sz="quarter" idx="4"/>
          </p:nvPr>
        </p:nvSpPr>
        <p:spPr/>
        <p:txBody>
          <a:bodyPr>
            <a:normAutofit fontScale="92500" lnSpcReduction="20000"/>
          </a:bodyPr>
          <a:lstStyle/>
          <a:p>
            <a:r>
              <a:rPr lang="en-US" altLang="ko-KR" b="0" i="0" dirty="0">
                <a:solidFill>
                  <a:srgbClr val="000000"/>
                </a:solidFill>
                <a:effectLst/>
              </a:rPr>
              <a:t>one machine learning model can simplify code and perform better than traditional methods.</a:t>
            </a:r>
          </a:p>
          <a:p>
            <a:r>
              <a:rPr lang="en-US" altLang="ko-KR" b="0" i="0" dirty="0">
                <a:solidFill>
                  <a:srgbClr val="000000"/>
                </a:solidFill>
                <a:effectLst/>
              </a:rPr>
              <a:t>solutions can be found with the best machine learning techniques.</a:t>
            </a:r>
          </a:p>
          <a:p>
            <a:r>
              <a:rPr lang="en-US" altLang="ko-KR" b="0" i="0" dirty="0">
                <a:solidFill>
                  <a:srgbClr val="000000"/>
                </a:solidFill>
                <a:effectLst/>
              </a:rPr>
              <a:t>Machine learning systems can adapt to new data.</a:t>
            </a:r>
          </a:p>
          <a:p>
            <a:r>
              <a:rPr lang="en-US" altLang="ko-KR" b="0" i="0" dirty="0">
                <a:solidFill>
                  <a:srgbClr val="000000"/>
                </a:solidFill>
                <a:effectLst/>
              </a:rPr>
              <a:t>Gain insight from complex issues and massive amounts of data</a:t>
            </a:r>
            <a:endParaRPr lang="ko-KR" altLang="en-US" dirty="0"/>
          </a:p>
          <a:p>
            <a:endParaRPr lang="en-US" altLang="ko-KR" b="0" i="0" dirty="0">
              <a:solidFill>
                <a:srgbClr val="000000"/>
              </a:solidFill>
              <a:effectLst/>
            </a:endParaRPr>
          </a:p>
          <a:p>
            <a:endParaRPr lang="en-US" altLang="ko-KR" dirty="0">
              <a:solidFill>
                <a:srgbClr val="000000"/>
              </a:solidFill>
            </a:endParaRPr>
          </a:p>
          <a:p>
            <a:endParaRPr lang="en-US" altLang="ko-KR" b="0" i="0" dirty="0">
              <a:solidFill>
                <a:srgbClr val="000000"/>
              </a:solidFill>
              <a:effectLst/>
            </a:endParaRPr>
          </a:p>
          <a:p>
            <a:endParaRPr lang="ko-KR" altLang="en-US" dirty="0"/>
          </a:p>
        </p:txBody>
      </p:sp>
      <p:pic>
        <p:nvPicPr>
          <p:cNvPr id="9" name="그림 8">
            <a:extLst>
              <a:ext uri="{FF2B5EF4-FFF2-40B4-BE49-F238E27FC236}">
                <a16:creationId xmlns:a16="http://schemas.microsoft.com/office/drawing/2014/main" id="{DF9DC30D-B4A3-42A5-8D24-7F3AC9F20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2292095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F3CFF0-EC87-4E23-8B32-15161A93817E}"/>
              </a:ext>
            </a:extLst>
          </p:cNvPr>
          <p:cNvSpPr>
            <a:spLocks noGrp="1"/>
          </p:cNvSpPr>
          <p:nvPr>
            <p:ph type="title"/>
          </p:nvPr>
        </p:nvSpPr>
        <p:spPr/>
        <p:txBody>
          <a:bodyPr/>
          <a:lstStyle/>
          <a:p>
            <a:r>
              <a:rPr lang="en-US" altLang="ko-KR" dirty="0"/>
              <a:t>Practice problem</a:t>
            </a:r>
            <a:endParaRPr lang="ko-KR" altLang="en-US" dirty="0"/>
          </a:p>
        </p:txBody>
      </p:sp>
      <p:sp>
        <p:nvSpPr>
          <p:cNvPr id="3" name="텍스트 개체 틀 2">
            <a:extLst>
              <a:ext uri="{FF2B5EF4-FFF2-40B4-BE49-F238E27FC236}">
                <a16:creationId xmlns:a16="http://schemas.microsoft.com/office/drawing/2014/main" id="{C19A6942-84D8-4090-8823-C86F9F594F2B}"/>
              </a:ext>
            </a:extLst>
          </p:cNvPr>
          <p:cNvSpPr>
            <a:spLocks noGrp="1"/>
          </p:cNvSpPr>
          <p:nvPr>
            <p:ph type="body" idx="1"/>
          </p:nvPr>
        </p:nvSpPr>
        <p:spPr/>
        <p:txBody>
          <a:bodyPr>
            <a:normAutofit/>
          </a:bodyPr>
          <a:lstStyle/>
          <a:p>
            <a:r>
              <a:rPr lang="en-US" altLang="ko-KR" dirty="0"/>
              <a:t>3. What is labeled training set</a:t>
            </a:r>
          </a:p>
        </p:txBody>
      </p:sp>
      <p:sp>
        <p:nvSpPr>
          <p:cNvPr id="4" name="내용 개체 틀 3">
            <a:extLst>
              <a:ext uri="{FF2B5EF4-FFF2-40B4-BE49-F238E27FC236}">
                <a16:creationId xmlns:a16="http://schemas.microsoft.com/office/drawing/2014/main" id="{CB0A24F8-6CCB-4DA2-BCB0-7247F3EAE79A}"/>
              </a:ext>
            </a:extLst>
          </p:cNvPr>
          <p:cNvSpPr>
            <a:spLocks noGrp="1"/>
          </p:cNvSpPr>
          <p:nvPr>
            <p:ph sz="half" idx="2"/>
          </p:nvPr>
        </p:nvSpPr>
        <p:spPr>
          <a:xfrm>
            <a:off x="839788" y="2505074"/>
            <a:ext cx="5157787" cy="3684587"/>
          </a:xfrm>
        </p:spPr>
        <p:txBody>
          <a:bodyPr>
            <a:normAutofit/>
          </a:bodyPr>
          <a:lstStyle/>
          <a:p>
            <a:r>
              <a:rPr lang="en-US" altLang="ko-KR" b="0" i="0" dirty="0">
                <a:solidFill>
                  <a:srgbClr val="000000"/>
                </a:solidFill>
                <a:effectLst/>
              </a:rPr>
              <a:t>Labeled data is a designation for pieces of data that have been tagged with one or more labels identifying certain properties or characteristics, or classifications or contained objects.</a:t>
            </a:r>
            <a:endParaRPr lang="ko-KR" altLang="en-US" dirty="0"/>
          </a:p>
        </p:txBody>
      </p:sp>
      <p:sp>
        <p:nvSpPr>
          <p:cNvPr id="5" name="텍스트 개체 틀 4">
            <a:extLst>
              <a:ext uri="{FF2B5EF4-FFF2-40B4-BE49-F238E27FC236}">
                <a16:creationId xmlns:a16="http://schemas.microsoft.com/office/drawing/2014/main" id="{98E45449-1BD7-4564-A8A2-FD609081E637}"/>
              </a:ext>
            </a:extLst>
          </p:cNvPr>
          <p:cNvSpPr>
            <a:spLocks noGrp="1"/>
          </p:cNvSpPr>
          <p:nvPr>
            <p:ph type="body" sz="quarter" idx="3"/>
          </p:nvPr>
        </p:nvSpPr>
        <p:spPr/>
        <p:txBody>
          <a:bodyPr>
            <a:normAutofit/>
          </a:bodyPr>
          <a:lstStyle/>
          <a:p>
            <a:r>
              <a:rPr lang="en-US" altLang="ko-KR" dirty="0"/>
              <a:t>4. What are the two most widely used supervised learning tasks?</a:t>
            </a:r>
            <a:endParaRPr lang="ko-KR" altLang="en-US" dirty="0"/>
          </a:p>
        </p:txBody>
      </p:sp>
      <p:sp>
        <p:nvSpPr>
          <p:cNvPr id="6" name="내용 개체 틀 5">
            <a:extLst>
              <a:ext uri="{FF2B5EF4-FFF2-40B4-BE49-F238E27FC236}">
                <a16:creationId xmlns:a16="http://schemas.microsoft.com/office/drawing/2014/main" id="{8E721321-27C7-4C68-B626-576CC889C97F}"/>
              </a:ext>
            </a:extLst>
          </p:cNvPr>
          <p:cNvSpPr>
            <a:spLocks noGrp="1"/>
          </p:cNvSpPr>
          <p:nvPr>
            <p:ph sz="quarter" idx="4"/>
          </p:nvPr>
        </p:nvSpPr>
        <p:spPr/>
        <p:txBody>
          <a:bodyPr>
            <a:normAutofit/>
          </a:bodyPr>
          <a:lstStyle/>
          <a:p>
            <a:r>
              <a:rPr lang="en-US" altLang="ko-KR" b="0" i="0" dirty="0">
                <a:solidFill>
                  <a:srgbClr val="000000"/>
                </a:solidFill>
                <a:effectLst/>
              </a:rPr>
              <a:t>Regression</a:t>
            </a:r>
          </a:p>
          <a:p>
            <a:r>
              <a:rPr lang="en-US" altLang="ko-KR" dirty="0">
                <a:solidFill>
                  <a:srgbClr val="000000"/>
                </a:solidFill>
              </a:rPr>
              <a:t>classification</a:t>
            </a:r>
            <a:endParaRPr lang="en-US" altLang="ko-KR" b="0" i="0" dirty="0">
              <a:solidFill>
                <a:srgbClr val="000000"/>
              </a:solidFill>
              <a:effectLst/>
            </a:endParaRPr>
          </a:p>
        </p:txBody>
      </p:sp>
      <p:pic>
        <p:nvPicPr>
          <p:cNvPr id="9" name="그림 8">
            <a:extLst>
              <a:ext uri="{FF2B5EF4-FFF2-40B4-BE49-F238E27FC236}">
                <a16:creationId xmlns:a16="http://schemas.microsoft.com/office/drawing/2014/main" id="{DF9DC30D-B4A3-42A5-8D24-7F3AC9F20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906640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F3CFF0-EC87-4E23-8B32-15161A93817E}"/>
              </a:ext>
            </a:extLst>
          </p:cNvPr>
          <p:cNvSpPr>
            <a:spLocks noGrp="1"/>
          </p:cNvSpPr>
          <p:nvPr>
            <p:ph type="title"/>
          </p:nvPr>
        </p:nvSpPr>
        <p:spPr/>
        <p:txBody>
          <a:bodyPr/>
          <a:lstStyle/>
          <a:p>
            <a:r>
              <a:rPr lang="en-US" altLang="ko-KR" dirty="0"/>
              <a:t>Practice problem</a:t>
            </a:r>
            <a:endParaRPr lang="ko-KR" altLang="en-US" dirty="0"/>
          </a:p>
        </p:txBody>
      </p:sp>
      <p:sp>
        <p:nvSpPr>
          <p:cNvPr id="3" name="텍스트 개체 틀 2">
            <a:extLst>
              <a:ext uri="{FF2B5EF4-FFF2-40B4-BE49-F238E27FC236}">
                <a16:creationId xmlns:a16="http://schemas.microsoft.com/office/drawing/2014/main" id="{C19A6942-84D8-4090-8823-C86F9F594F2B}"/>
              </a:ext>
            </a:extLst>
          </p:cNvPr>
          <p:cNvSpPr>
            <a:spLocks noGrp="1"/>
          </p:cNvSpPr>
          <p:nvPr>
            <p:ph type="body" idx="1"/>
          </p:nvPr>
        </p:nvSpPr>
        <p:spPr/>
        <p:txBody>
          <a:bodyPr>
            <a:normAutofit fontScale="77500" lnSpcReduction="20000"/>
          </a:bodyPr>
          <a:lstStyle/>
          <a:p>
            <a:r>
              <a:rPr lang="en-US" altLang="ko-KR" dirty="0"/>
              <a:t>5. What are the five most widely used unsupervised learning task</a:t>
            </a:r>
          </a:p>
        </p:txBody>
      </p:sp>
      <p:sp>
        <p:nvSpPr>
          <p:cNvPr id="4" name="내용 개체 틀 3">
            <a:extLst>
              <a:ext uri="{FF2B5EF4-FFF2-40B4-BE49-F238E27FC236}">
                <a16:creationId xmlns:a16="http://schemas.microsoft.com/office/drawing/2014/main" id="{CB0A24F8-6CCB-4DA2-BCB0-7247F3EAE79A}"/>
              </a:ext>
            </a:extLst>
          </p:cNvPr>
          <p:cNvSpPr>
            <a:spLocks noGrp="1"/>
          </p:cNvSpPr>
          <p:nvPr>
            <p:ph sz="half" idx="2"/>
          </p:nvPr>
        </p:nvSpPr>
        <p:spPr>
          <a:xfrm>
            <a:off x="839788" y="2505074"/>
            <a:ext cx="5157787" cy="3684587"/>
          </a:xfrm>
        </p:spPr>
        <p:txBody>
          <a:bodyPr>
            <a:normAutofit/>
          </a:bodyPr>
          <a:lstStyle/>
          <a:p>
            <a:r>
              <a:rPr lang="en-US" altLang="ko-KR" dirty="0"/>
              <a:t>Clustering</a:t>
            </a:r>
          </a:p>
          <a:p>
            <a:r>
              <a:rPr lang="en-US" altLang="ko-KR" dirty="0"/>
              <a:t>Outlier detection</a:t>
            </a:r>
          </a:p>
          <a:p>
            <a:r>
              <a:rPr lang="en-US" altLang="ko-KR" dirty="0"/>
              <a:t>Dimensionality reduction</a:t>
            </a:r>
          </a:p>
          <a:p>
            <a:r>
              <a:rPr lang="en-US" altLang="ko-KR" dirty="0"/>
              <a:t>Visualization</a:t>
            </a:r>
          </a:p>
          <a:p>
            <a:r>
              <a:rPr lang="en-US" altLang="ko-KR" dirty="0"/>
              <a:t>Association rule learning</a:t>
            </a:r>
            <a:endParaRPr lang="ko-KR" altLang="en-US" dirty="0"/>
          </a:p>
        </p:txBody>
      </p:sp>
      <p:sp>
        <p:nvSpPr>
          <p:cNvPr id="5" name="텍스트 개체 틀 4">
            <a:extLst>
              <a:ext uri="{FF2B5EF4-FFF2-40B4-BE49-F238E27FC236}">
                <a16:creationId xmlns:a16="http://schemas.microsoft.com/office/drawing/2014/main" id="{98E45449-1BD7-4564-A8A2-FD609081E637}"/>
              </a:ext>
            </a:extLst>
          </p:cNvPr>
          <p:cNvSpPr>
            <a:spLocks noGrp="1"/>
          </p:cNvSpPr>
          <p:nvPr>
            <p:ph type="body" sz="quarter" idx="3"/>
          </p:nvPr>
        </p:nvSpPr>
        <p:spPr>
          <a:xfrm>
            <a:off x="6172199" y="1681163"/>
            <a:ext cx="5357813" cy="823912"/>
          </a:xfrm>
        </p:spPr>
        <p:txBody>
          <a:bodyPr>
            <a:normAutofit fontScale="77500" lnSpcReduction="20000"/>
          </a:bodyPr>
          <a:lstStyle/>
          <a:p>
            <a:r>
              <a:rPr lang="en-US" altLang="ko-KR" dirty="0"/>
              <a:t>6. What kind of machine learning algorithm can be used to walk the robot on multiple terrain without prior information</a:t>
            </a:r>
            <a:endParaRPr lang="ko-KR" altLang="en-US" dirty="0"/>
          </a:p>
        </p:txBody>
      </p:sp>
      <p:sp>
        <p:nvSpPr>
          <p:cNvPr id="6" name="내용 개체 틀 5">
            <a:extLst>
              <a:ext uri="{FF2B5EF4-FFF2-40B4-BE49-F238E27FC236}">
                <a16:creationId xmlns:a16="http://schemas.microsoft.com/office/drawing/2014/main" id="{8E721321-27C7-4C68-B626-576CC889C97F}"/>
              </a:ext>
            </a:extLst>
          </p:cNvPr>
          <p:cNvSpPr>
            <a:spLocks noGrp="1"/>
          </p:cNvSpPr>
          <p:nvPr>
            <p:ph sz="quarter" idx="4"/>
          </p:nvPr>
        </p:nvSpPr>
        <p:spPr/>
        <p:txBody>
          <a:bodyPr>
            <a:normAutofit/>
          </a:bodyPr>
          <a:lstStyle/>
          <a:p>
            <a:r>
              <a:rPr lang="en-US" altLang="ko-KR" b="0" i="0" dirty="0">
                <a:solidFill>
                  <a:srgbClr val="000000"/>
                </a:solidFill>
                <a:effectLst/>
              </a:rPr>
              <a:t>Reinforcement learning</a:t>
            </a:r>
          </a:p>
        </p:txBody>
      </p:sp>
      <p:pic>
        <p:nvPicPr>
          <p:cNvPr id="9" name="그림 8">
            <a:extLst>
              <a:ext uri="{FF2B5EF4-FFF2-40B4-BE49-F238E27FC236}">
                <a16:creationId xmlns:a16="http://schemas.microsoft.com/office/drawing/2014/main" id="{DF9DC30D-B4A3-42A5-8D24-7F3AC9F20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2207196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F3CFF0-EC87-4E23-8B32-15161A93817E}"/>
              </a:ext>
            </a:extLst>
          </p:cNvPr>
          <p:cNvSpPr>
            <a:spLocks noGrp="1"/>
          </p:cNvSpPr>
          <p:nvPr>
            <p:ph type="title"/>
          </p:nvPr>
        </p:nvSpPr>
        <p:spPr/>
        <p:txBody>
          <a:bodyPr/>
          <a:lstStyle/>
          <a:p>
            <a:r>
              <a:rPr lang="en-US" altLang="ko-KR" dirty="0"/>
              <a:t>Practice problem</a:t>
            </a:r>
            <a:endParaRPr lang="ko-KR" altLang="en-US" dirty="0"/>
          </a:p>
        </p:txBody>
      </p:sp>
      <p:sp>
        <p:nvSpPr>
          <p:cNvPr id="3" name="텍스트 개체 틀 2">
            <a:extLst>
              <a:ext uri="{FF2B5EF4-FFF2-40B4-BE49-F238E27FC236}">
                <a16:creationId xmlns:a16="http://schemas.microsoft.com/office/drawing/2014/main" id="{C19A6942-84D8-4090-8823-C86F9F594F2B}"/>
              </a:ext>
            </a:extLst>
          </p:cNvPr>
          <p:cNvSpPr>
            <a:spLocks noGrp="1"/>
          </p:cNvSpPr>
          <p:nvPr>
            <p:ph type="body" idx="1"/>
          </p:nvPr>
        </p:nvSpPr>
        <p:spPr/>
        <p:txBody>
          <a:bodyPr>
            <a:normAutofit fontScale="92500" lnSpcReduction="20000"/>
          </a:bodyPr>
          <a:lstStyle/>
          <a:p>
            <a:r>
              <a:rPr lang="en-US" altLang="ko-KR" dirty="0"/>
              <a:t>7. Which algorithm should I use to divide the customer into groups</a:t>
            </a:r>
          </a:p>
        </p:txBody>
      </p:sp>
      <p:sp>
        <p:nvSpPr>
          <p:cNvPr id="4" name="내용 개체 틀 3">
            <a:extLst>
              <a:ext uri="{FF2B5EF4-FFF2-40B4-BE49-F238E27FC236}">
                <a16:creationId xmlns:a16="http://schemas.microsoft.com/office/drawing/2014/main" id="{CB0A24F8-6CCB-4DA2-BCB0-7247F3EAE79A}"/>
              </a:ext>
            </a:extLst>
          </p:cNvPr>
          <p:cNvSpPr>
            <a:spLocks noGrp="1"/>
          </p:cNvSpPr>
          <p:nvPr>
            <p:ph sz="half" idx="2"/>
          </p:nvPr>
        </p:nvSpPr>
        <p:spPr>
          <a:xfrm>
            <a:off x="839788" y="2505074"/>
            <a:ext cx="5157787" cy="3684587"/>
          </a:xfrm>
        </p:spPr>
        <p:txBody>
          <a:bodyPr>
            <a:normAutofit/>
          </a:bodyPr>
          <a:lstStyle/>
          <a:p>
            <a:r>
              <a:rPr lang="en-US" altLang="ko-KR" dirty="0"/>
              <a:t>Supervised Learning: SVM</a:t>
            </a:r>
          </a:p>
          <a:p>
            <a:r>
              <a:rPr lang="en-US" altLang="ko-KR" dirty="0"/>
              <a:t>Unsupervised Learning: K-Means</a:t>
            </a:r>
            <a:endParaRPr lang="ko-KR" altLang="en-US" dirty="0"/>
          </a:p>
        </p:txBody>
      </p:sp>
      <p:sp>
        <p:nvSpPr>
          <p:cNvPr id="5" name="텍스트 개체 틀 4">
            <a:extLst>
              <a:ext uri="{FF2B5EF4-FFF2-40B4-BE49-F238E27FC236}">
                <a16:creationId xmlns:a16="http://schemas.microsoft.com/office/drawing/2014/main" id="{98E45449-1BD7-4564-A8A2-FD609081E637}"/>
              </a:ext>
            </a:extLst>
          </p:cNvPr>
          <p:cNvSpPr>
            <a:spLocks noGrp="1"/>
          </p:cNvSpPr>
          <p:nvPr>
            <p:ph type="body" sz="quarter" idx="3"/>
          </p:nvPr>
        </p:nvSpPr>
        <p:spPr/>
        <p:txBody>
          <a:bodyPr>
            <a:normAutofit fontScale="92500" lnSpcReduction="20000"/>
          </a:bodyPr>
          <a:lstStyle/>
          <a:p>
            <a:r>
              <a:rPr lang="en-US" altLang="ko-KR" dirty="0"/>
              <a:t>8. Can you see the problem of spam detection as a problem of supervised or unsupervised learning</a:t>
            </a:r>
            <a:endParaRPr lang="ko-KR" altLang="en-US" dirty="0"/>
          </a:p>
        </p:txBody>
      </p:sp>
      <p:sp>
        <p:nvSpPr>
          <p:cNvPr id="6" name="내용 개체 틀 5">
            <a:extLst>
              <a:ext uri="{FF2B5EF4-FFF2-40B4-BE49-F238E27FC236}">
                <a16:creationId xmlns:a16="http://schemas.microsoft.com/office/drawing/2014/main" id="{8E721321-27C7-4C68-B626-576CC889C97F}"/>
              </a:ext>
            </a:extLst>
          </p:cNvPr>
          <p:cNvSpPr>
            <a:spLocks noGrp="1"/>
          </p:cNvSpPr>
          <p:nvPr>
            <p:ph sz="quarter" idx="4"/>
          </p:nvPr>
        </p:nvSpPr>
        <p:spPr/>
        <p:txBody>
          <a:bodyPr>
            <a:normAutofit/>
          </a:bodyPr>
          <a:lstStyle/>
          <a:p>
            <a:r>
              <a:rPr lang="en-US" altLang="ko-KR" b="0" i="0" dirty="0">
                <a:solidFill>
                  <a:srgbClr val="000000"/>
                </a:solidFill>
                <a:effectLst/>
              </a:rPr>
              <a:t>Supervised Learning</a:t>
            </a:r>
          </a:p>
        </p:txBody>
      </p:sp>
      <p:pic>
        <p:nvPicPr>
          <p:cNvPr id="9" name="그림 8">
            <a:extLst>
              <a:ext uri="{FF2B5EF4-FFF2-40B4-BE49-F238E27FC236}">
                <a16:creationId xmlns:a16="http://schemas.microsoft.com/office/drawing/2014/main" id="{DF9DC30D-B4A3-42A5-8D24-7F3AC9F20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7574521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F3CFF0-EC87-4E23-8B32-15161A93817E}"/>
              </a:ext>
            </a:extLst>
          </p:cNvPr>
          <p:cNvSpPr>
            <a:spLocks noGrp="1"/>
          </p:cNvSpPr>
          <p:nvPr>
            <p:ph type="title"/>
          </p:nvPr>
        </p:nvSpPr>
        <p:spPr/>
        <p:txBody>
          <a:bodyPr/>
          <a:lstStyle/>
          <a:p>
            <a:r>
              <a:rPr lang="en-US" altLang="ko-KR" dirty="0"/>
              <a:t>Practice problem</a:t>
            </a:r>
            <a:endParaRPr lang="ko-KR" altLang="en-US" dirty="0"/>
          </a:p>
        </p:txBody>
      </p:sp>
      <p:sp>
        <p:nvSpPr>
          <p:cNvPr id="3" name="텍스트 개체 틀 2">
            <a:extLst>
              <a:ext uri="{FF2B5EF4-FFF2-40B4-BE49-F238E27FC236}">
                <a16:creationId xmlns:a16="http://schemas.microsoft.com/office/drawing/2014/main" id="{C19A6942-84D8-4090-8823-C86F9F594F2B}"/>
              </a:ext>
            </a:extLst>
          </p:cNvPr>
          <p:cNvSpPr>
            <a:spLocks noGrp="1"/>
          </p:cNvSpPr>
          <p:nvPr>
            <p:ph type="body" idx="1"/>
          </p:nvPr>
        </p:nvSpPr>
        <p:spPr/>
        <p:txBody>
          <a:bodyPr>
            <a:normAutofit/>
          </a:bodyPr>
          <a:lstStyle/>
          <a:p>
            <a:r>
              <a:rPr lang="en-US" altLang="ko-KR" dirty="0"/>
              <a:t>9. What is online learning</a:t>
            </a:r>
          </a:p>
        </p:txBody>
      </p:sp>
      <p:sp>
        <p:nvSpPr>
          <p:cNvPr id="4" name="내용 개체 틀 3">
            <a:extLst>
              <a:ext uri="{FF2B5EF4-FFF2-40B4-BE49-F238E27FC236}">
                <a16:creationId xmlns:a16="http://schemas.microsoft.com/office/drawing/2014/main" id="{CB0A24F8-6CCB-4DA2-BCB0-7247F3EAE79A}"/>
              </a:ext>
            </a:extLst>
          </p:cNvPr>
          <p:cNvSpPr>
            <a:spLocks noGrp="1"/>
          </p:cNvSpPr>
          <p:nvPr>
            <p:ph sz="half" idx="2"/>
          </p:nvPr>
        </p:nvSpPr>
        <p:spPr>
          <a:xfrm>
            <a:off x="839788" y="2505074"/>
            <a:ext cx="5157787" cy="3684587"/>
          </a:xfrm>
        </p:spPr>
        <p:txBody>
          <a:bodyPr>
            <a:normAutofit/>
          </a:bodyPr>
          <a:lstStyle/>
          <a:p>
            <a:r>
              <a:rPr lang="en-US" altLang="ko-KR" b="0" i="0" dirty="0">
                <a:solidFill>
                  <a:srgbClr val="000000"/>
                </a:solidFill>
                <a:effectLst/>
              </a:rPr>
              <a:t>Online learning trains the system by injecting data one at a time or in small batches called mini-batch.</a:t>
            </a:r>
          </a:p>
        </p:txBody>
      </p:sp>
      <p:sp>
        <p:nvSpPr>
          <p:cNvPr id="5" name="텍스트 개체 틀 4">
            <a:extLst>
              <a:ext uri="{FF2B5EF4-FFF2-40B4-BE49-F238E27FC236}">
                <a16:creationId xmlns:a16="http://schemas.microsoft.com/office/drawing/2014/main" id="{98E45449-1BD7-4564-A8A2-FD609081E637}"/>
              </a:ext>
            </a:extLst>
          </p:cNvPr>
          <p:cNvSpPr>
            <a:spLocks noGrp="1"/>
          </p:cNvSpPr>
          <p:nvPr>
            <p:ph type="body" sz="quarter" idx="3"/>
          </p:nvPr>
        </p:nvSpPr>
        <p:spPr/>
        <p:txBody>
          <a:bodyPr>
            <a:normAutofit/>
          </a:bodyPr>
          <a:lstStyle/>
          <a:p>
            <a:r>
              <a:rPr lang="en-US" altLang="ko-KR" dirty="0"/>
              <a:t>10. What is out-of-core learning</a:t>
            </a:r>
            <a:endParaRPr lang="ko-KR" altLang="en-US" dirty="0"/>
          </a:p>
        </p:txBody>
      </p:sp>
      <p:sp>
        <p:nvSpPr>
          <p:cNvPr id="6" name="내용 개체 틀 5">
            <a:extLst>
              <a:ext uri="{FF2B5EF4-FFF2-40B4-BE49-F238E27FC236}">
                <a16:creationId xmlns:a16="http://schemas.microsoft.com/office/drawing/2014/main" id="{8E721321-27C7-4C68-B626-576CC889C97F}"/>
              </a:ext>
            </a:extLst>
          </p:cNvPr>
          <p:cNvSpPr>
            <a:spLocks noGrp="1"/>
          </p:cNvSpPr>
          <p:nvPr>
            <p:ph sz="quarter" idx="4"/>
          </p:nvPr>
        </p:nvSpPr>
        <p:spPr/>
        <p:txBody>
          <a:bodyPr>
            <a:normAutofit/>
          </a:bodyPr>
          <a:lstStyle/>
          <a:p>
            <a:r>
              <a:rPr lang="en-US" altLang="ko-KR" b="0" i="0" dirty="0">
                <a:solidFill>
                  <a:srgbClr val="000000"/>
                </a:solidFill>
                <a:effectLst/>
              </a:rPr>
              <a:t>Applying online learning algorithms(mini-batch) to systems that learn very large datasets that can’t fit into the main memory of a computer.</a:t>
            </a:r>
          </a:p>
        </p:txBody>
      </p:sp>
      <p:pic>
        <p:nvPicPr>
          <p:cNvPr id="9" name="그림 8">
            <a:extLst>
              <a:ext uri="{FF2B5EF4-FFF2-40B4-BE49-F238E27FC236}">
                <a16:creationId xmlns:a16="http://schemas.microsoft.com/office/drawing/2014/main" id="{DF9DC30D-B4A3-42A5-8D24-7F3AC9F20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6666311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F3CFF0-EC87-4E23-8B32-15161A93817E}"/>
              </a:ext>
            </a:extLst>
          </p:cNvPr>
          <p:cNvSpPr>
            <a:spLocks noGrp="1"/>
          </p:cNvSpPr>
          <p:nvPr>
            <p:ph type="title"/>
          </p:nvPr>
        </p:nvSpPr>
        <p:spPr/>
        <p:txBody>
          <a:bodyPr/>
          <a:lstStyle/>
          <a:p>
            <a:r>
              <a:rPr lang="en-US" altLang="ko-KR" dirty="0"/>
              <a:t>Practice problem</a:t>
            </a:r>
            <a:endParaRPr lang="ko-KR" altLang="en-US" dirty="0"/>
          </a:p>
        </p:txBody>
      </p:sp>
      <p:sp>
        <p:nvSpPr>
          <p:cNvPr id="3" name="텍스트 개체 틀 2">
            <a:extLst>
              <a:ext uri="{FF2B5EF4-FFF2-40B4-BE49-F238E27FC236}">
                <a16:creationId xmlns:a16="http://schemas.microsoft.com/office/drawing/2014/main" id="{C19A6942-84D8-4090-8823-C86F9F594F2B}"/>
              </a:ext>
            </a:extLst>
          </p:cNvPr>
          <p:cNvSpPr>
            <a:spLocks noGrp="1"/>
          </p:cNvSpPr>
          <p:nvPr>
            <p:ph type="body" idx="1"/>
          </p:nvPr>
        </p:nvSpPr>
        <p:spPr/>
        <p:txBody>
          <a:bodyPr>
            <a:normAutofit fontScale="92500" lnSpcReduction="20000"/>
          </a:bodyPr>
          <a:lstStyle/>
          <a:p>
            <a:r>
              <a:rPr lang="en-US" altLang="ko-KR" dirty="0"/>
              <a:t>11. Which learning algorithm relies on </a:t>
            </a:r>
            <a:r>
              <a:rPr lang="en-US" altLang="ko-KR" dirty="0" err="1"/>
              <a:t>silmilarity</a:t>
            </a:r>
            <a:r>
              <a:rPr lang="en-US" altLang="ko-KR" dirty="0"/>
              <a:t> measurements to make predictions?</a:t>
            </a:r>
          </a:p>
        </p:txBody>
      </p:sp>
      <p:sp>
        <p:nvSpPr>
          <p:cNvPr id="4" name="내용 개체 틀 3">
            <a:extLst>
              <a:ext uri="{FF2B5EF4-FFF2-40B4-BE49-F238E27FC236}">
                <a16:creationId xmlns:a16="http://schemas.microsoft.com/office/drawing/2014/main" id="{CB0A24F8-6CCB-4DA2-BCB0-7247F3EAE79A}"/>
              </a:ext>
            </a:extLst>
          </p:cNvPr>
          <p:cNvSpPr>
            <a:spLocks noGrp="1"/>
          </p:cNvSpPr>
          <p:nvPr>
            <p:ph sz="half" idx="2"/>
          </p:nvPr>
        </p:nvSpPr>
        <p:spPr>
          <a:xfrm>
            <a:off x="839788" y="2505074"/>
            <a:ext cx="5157787" cy="3684587"/>
          </a:xfrm>
        </p:spPr>
        <p:txBody>
          <a:bodyPr>
            <a:normAutofit/>
          </a:bodyPr>
          <a:lstStyle/>
          <a:p>
            <a:r>
              <a:rPr lang="en-US" altLang="ko-KR" b="0" i="0" dirty="0">
                <a:solidFill>
                  <a:srgbClr val="000000"/>
                </a:solidFill>
                <a:effectLst/>
              </a:rPr>
              <a:t>Case based learning (</a:t>
            </a:r>
            <a:r>
              <a:rPr lang="en-US" altLang="ko-KR" b="0" i="0" dirty="0" err="1">
                <a:solidFill>
                  <a:srgbClr val="000000"/>
                </a:solidFill>
                <a:effectLst/>
              </a:rPr>
              <a:t>kNN</a:t>
            </a:r>
            <a:r>
              <a:rPr lang="en-US" altLang="ko-KR" b="0" i="0" dirty="0">
                <a:solidFill>
                  <a:srgbClr val="000000"/>
                </a:solidFill>
                <a:effectLst/>
              </a:rPr>
              <a:t>, </a:t>
            </a:r>
            <a:r>
              <a:rPr lang="en-US" altLang="ko-KR" b="0" i="0" dirty="0" err="1">
                <a:solidFill>
                  <a:srgbClr val="000000"/>
                </a:solidFill>
                <a:effectLst/>
              </a:rPr>
              <a:t>etc</a:t>
            </a:r>
            <a:r>
              <a:rPr lang="en-US" altLang="ko-KR" b="0" i="0" dirty="0">
                <a:solidFill>
                  <a:srgbClr val="000000"/>
                </a:solidFill>
                <a:effectLst/>
              </a:rPr>
              <a:t>…)</a:t>
            </a:r>
          </a:p>
        </p:txBody>
      </p:sp>
      <p:sp>
        <p:nvSpPr>
          <p:cNvPr id="5" name="텍스트 개체 틀 4">
            <a:extLst>
              <a:ext uri="{FF2B5EF4-FFF2-40B4-BE49-F238E27FC236}">
                <a16:creationId xmlns:a16="http://schemas.microsoft.com/office/drawing/2014/main" id="{98E45449-1BD7-4564-A8A2-FD609081E637}"/>
              </a:ext>
            </a:extLst>
          </p:cNvPr>
          <p:cNvSpPr>
            <a:spLocks noGrp="1"/>
          </p:cNvSpPr>
          <p:nvPr>
            <p:ph type="body" sz="quarter" idx="3"/>
          </p:nvPr>
        </p:nvSpPr>
        <p:spPr/>
        <p:txBody>
          <a:bodyPr>
            <a:normAutofit fontScale="92500" lnSpcReduction="20000"/>
          </a:bodyPr>
          <a:lstStyle/>
          <a:p>
            <a:r>
              <a:rPr lang="en-US" altLang="ko-KR" dirty="0"/>
              <a:t>12. What is the difference between the model parameters and the hyper parameters of the learning algorithm?</a:t>
            </a:r>
            <a:endParaRPr lang="ko-KR" altLang="en-US" dirty="0"/>
          </a:p>
        </p:txBody>
      </p:sp>
      <p:sp>
        <p:nvSpPr>
          <p:cNvPr id="6" name="내용 개체 틀 5">
            <a:extLst>
              <a:ext uri="{FF2B5EF4-FFF2-40B4-BE49-F238E27FC236}">
                <a16:creationId xmlns:a16="http://schemas.microsoft.com/office/drawing/2014/main" id="{8E721321-27C7-4C68-B626-576CC889C97F}"/>
              </a:ext>
            </a:extLst>
          </p:cNvPr>
          <p:cNvSpPr>
            <a:spLocks noGrp="1"/>
          </p:cNvSpPr>
          <p:nvPr>
            <p:ph sz="quarter" idx="4"/>
          </p:nvPr>
        </p:nvSpPr>
        <p:spPr/>
        <p:txBody>
          <a:bodyPr>
            <a:normAutofit/>
          </a:bodyPr>
          <a:lstStyle/>
          <a:p>
            <a:r>
              <a:rPr lang="en-US" altLang="ko-KR" b="0" i="0" dirty="0">
                <a:solidFill>
                  <a:srgbClr val="000000"/>
                </a:solidFill>
                <a:effectLst/>
              </a:rPr>
              <a:t>The model parameter is a parameter obtained by learning, and the hyper parameter is a parameter that must be input before learning</a:t>
            </a:r>
          </a:p>
        </p:txBody>
      </p:sp>
      <p:pic>
        <p:nvPicPr>
          <p:cNvPr id="9" name="그림 8">
            <a:extLst>
              <a:ext uri="{FF2B5EF4-FFF2-40B4-BE49-F238E27FC236}">
                <a16:creationId xmlns:a16="http://schemas.microsoft.com/office/drawing/2014/main" id="{DF9DC30D-B4A3-42A5-8D24-7F3AC9F20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8510830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F3CFF0-EC87-4E23-8B32-15161A93817E}"/>
              </a:ext>
            </a:extLst>
          </p:cNvPr>
          <p:cNvSpPr>
            <a:spLocks noGrp="1"/>
          </p:cNvSpPr>
          <p:nvPr>
            <p:ph type="title"/>
          </p:nvPr>
        </p:nvSpPr>
        <p:spPr/>
        <p:txBody>
          <a:bodyPr/>
          <a:lstStyle/>
          <a:p>
            <a:r>
              <a:rPr lang="en-US" altLang="ko-KR" dirty="0"/>
              <a:t>Practice problem</a:t>
            </a:r>
            <a:endParaRPr lang="ko-KR" altLang="en-US" dirty="0"/>
          </a:p>
        </p:txBody>
      </p:sp>
      <p:sp>
        <p:nvSpPr>
          <p:cNvPr id="3" name="텍스트 개체 틀 2">
            <a:extLst>
              <a:ext uri="{FF2B5EF4-FFF2-40B4-BE49-F238E27FC236}">
                <a16:creationId xmlns:a16="http://schemas.microsoft.com/office/drawing/2014/main" id="{C19A6942-84D8-4090-8823-C86F9F594F2B}"/>
              </a:ext>
            </a:extLst>
          </p:cNvPr>
          <p:cNvSpPr>
            <a:spLocks noGrp="1"/>
          </p:cNvSpPr>
          <p:nvPr>
            <p:ph type="body" idx="1"/>
          </p:nvPr>
        </p:nvSpPr>
        <p:spPr/>
        <p:txBody>
          <a:bodyPr>
            <a:normAutofit fontScale="70000" lnSpcReduction="20000"/>
          </a:bodyPr>
          <a:lstStyle/>
          <a:p>
            <a:r>
              <a:rPr lang="en-US" altLang="ko-KR" dirty="0"/>
              <a:t>13. What are model-based algorithms looking for? What is the most common strategy this algorithm uses for success? How do you make predictions?</a:t>
            </a:r>
          </a:p>
        </p:txBody>
      </p:sp>
      <p:sp>
        <p:nvSpPr>
          <p:cNvPr id="4" name="내용 개체 틀 3">
            <a:extLst>
              <a:ext uri="{FF2B5EF4-FFF2-40B4-BE49-F238E27FC236}">
                <a16:creationId xmlns:a16="http://schemas.microsoft.com/office/drawing/2014/main" id="{CB0A24F8-6CCB-4DA2-BCB0-7247F3EAE79A}"/>
              </a:ext>
            </a:extLst>
          </p:cNvPr>
          <p:cNvSpPr>
            <a:spLocks noGrp="1"/>
          </p:cNvSpPr>
          <p:nvPr>
            <p:ph sz="half" idx="2"/>
          </p:nvPr>
        </p:nvSpPr>
        <p:spPr>
          <a:xfrm>
            <a:off x="839788" y="2505074"/>
            <a:ext cx="5157787" cy="3684587"/>
          </a:xfrm>
        </p:spPr>
        <p:txBody>
          <a:bodyPr>
            <a:normAutofit/>
          </a:bodyPr>
          <a:lstStyle/>
          <a:p>
            <a:r>
              <a:rPr lang="en-US" altLang="ko-KR" b="0" i="0" dirty="0">
                <a:solidFill>
                  <a:srgbClr val="000000"/>
                </a:solidFill>
                <a:effectLst/>
              </a:rPr>
              <a:t>Generalized model</a:t>
            </a:r>
          </a:p>
          <a:p>
            <a:r>
              <a:rPr lang="en-US" altLang="ko-KR" dirty="0">
                <a:solidFill>
                  <a:srgbClr val="000000"/>
                </a:solidFill>
              </a:rPr>
              <a:t>Regularization</a:t>
            </a:r>
          </a:p>
          <a:p>
            <a:r>
              <a:rPr lang="en-US" altLang="ko-KR" b="0" i="0" dirty="0">
                <a:solidFill>
                  <a:srgbClr val="000000"/>
                </a:solidFill>
                <a:effectLst/>
                <a:latin typeface="noto"/>
              </a:rPr>
              <a:t>Enter the characteristics of the new sample into the prediction function of the model using the parameters found by the learning algorithm.</a:t>
            </a:r>
            <a:endParaRPr lang="en-US" altLang="ko-KR" dirty="0">
              <a:solidFill>
                <a:srgbClr val="000000"/>
              </a:solidFill>
            </a:endParaRPr>
          </a:p>
        </p:txBody>
      </p:sp>
      <p:sp>
        <p:nvSpPr>
          <p:cNvPr id="5" name="텍스트 개체 틀 4">
            <a:extLst>
              <a:ext uri="{FF2B5EF4-FFF2-40B4-BE49-F238E27FC236}">
                <a16:creationId xmlns:a16="http://schemas.microsoft.com/office/drawing/2014/main" id="{98E45449-1BD7-4564-A8A2-FD609081E637}"/>
              </a:ext>
            </a:extLst>
          </p:cNvPr>
          <p:cNvSpPr>
            <a:spLocks noGrp="1"/>
          </p:cNvSpPr>
          <p:nvPr>
            <p:ph type="body" sz="quarter" idx="3"/>
          </p:nvPr>
        </p:nvSpPr>
        <p:spPr/>
        <p:txBody>
          <a:bodyPr>
            <a:normAutofit fontScale="70000" lnSpcReduction="20000"/>
          </a:bodyPr>
          <a:lstStyle/>
          <a:p>
            <a:r>
              <a:rPr lang="en-US" altLang="ko-KR" dirty="0"/>
              <a:t>14. What are the main challenges of machine learning?</a:t>
            </a:r>
            <a:endParaRPr lang="ko-KR" altLang="en-US" dirty="0"/>
          </a:p>
        </p:txBody>
      </p:sp>
      <p:sp>
        <p:nvSpPr>
          <p:cNvPr id="6" name="내용 개체 틀 5">
            <a:extLst>
              <a:ext uri="{FF2B5EF4-FFF2-40B4-BE49-F238E27FC236}">
                <a16:creationId xmlns:a16="http://schemas.microsoft.com/office/drawing/2014/main" id="{8E721321-27C7-4C68-B626-576CC889C97F}"/>
              </a:ext>
            </a:extLst>
          </p:cNvPr>
          <p:cNvSpPr>
            <a:spLocks noGrp="1"/>
          </p:cNvSpPr>
          <p:nvPr>
            <p:ph sz="quarter" idx="4"/>
          </p:nvPr>
        </p:nvSpPr>
        <p:spPr/>
        <p:txBody>
          <a:bodyPr>
            <a:normAutofit/>
          </a:bodyPr>
          <a:lstStyle/>
          <a:p>
            <a:r>
              <a:rPr lang="en-US" altLang="ko-KR" b="0" i="0" dirty="0">
                <a:solidFill>
                  <a:srgbClr val="000000"/>
                </a:solidFill>
                <a:effectLst/>
              </a:rPr>
              <a:t>Insufficient data</a:t>
            </a:r>
          </a:p>
          <a:p>
            <a:r>
              <a:rPr lang="en-US" altLang="ko-KR" dirty="0">
                <a:solidFill>
                  <a:srgbClr val="000000"/>
                </a:solidFill>
              </a:rPr>
              <a:t>Poor data quality</a:t>
            </a:r>
          </a:p>
          <a:p>
            <a:r>
              <a:rPr lang="en-US" altLang="ko-KR" b="0" i="0" dirty="0">
                <a:solidFill>
                  <a:srgbClr val="000000"/>
                </a:solidFill>
                <a:effectLst/>
              </a:rPr>
              <a:t>Unrepresentative data</a:t>
            </a:r>
          </a:p>
          <a:p>
            <a:r>
              <a:rPr lang="en-US" altLang="ko-KR" dirty="0">
                <a:solidFill>
                  <a:srgbClr val="000000"/>
                </a:solidFill>
              </a:rPr>
              <a:t>A meaningless trait</a:t>
            </a:r>
          </a:p>
          <a:p>
            <a:r>
              <a:rPr lang="en-US" altLang="ko-KR" b="0" i="0" dirty="0">
                <a:solidFill>
                  <a:srgbClr val="000000"/>
                </a:solidFill>
                <a:effectLst/>
              </a:rPr>
              <a:t>Over-fitting</a:t>
            </a:r>
          </a:p>
          <a:p>
            <a:r>
              <a:rPr lang="en-US" altLang="ko-KR" dirty="0">
                <a:solidFill>
                  <a:srgbClr val="000000"/>
                </a:solidFill>
              </a:rPr>
              <a:t>Under-fitting</a:t>
            </a:r>
            <a:endParaRPr lang="en-US" altLang="ko-KR" b="0" i="0" dirty="0">
              <a:solidFill>
                <a:srgbClr val="000000"/>
              </a:solidFill>
              <a:effectLst/>
            </a:endParaRPr>
          </a:p>
        </p:txBody>
      </p:sp>
      <p:pic>
        <p:nvPicPr>
          <p:cNvPr id="9" name="그림 8">
            <a:extLst>
              <a:ext uri="{FF2B5EF4-FFF2-40B4-BE49-F238E27FC236}">
                <a16:creationId xmlns:a16="http://schemas.microsoft.com/office/drawing/2014/main" id="{DF9DC30D-B4A3-42A5-8D24-7F3AC9F20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4238428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F3CFF0-EC87-4E23-8B32-15161A93817E}"/>
              </a:ext>
            </a:extLst>
          </p:cNvPr>
          <p:cNvSpPr>
            <a:spLocks noGrp="1"/>
          </p:cNvSpPr>
          <p:nvPr>
            <p:ph type="title"/>
          </p:nvPr>
        </p:nvSpPr>
        <p:spPr/>
        <p:txBody>
          <a:bodyPr/>
          <a:lstStyle/>
          <a:p>
            <a:r>
              <a:rPr lang="en-US" altLang="ko-KR" dirty="0"/>
              <a:t>Practice problem</a:t>
            </a:r>
            <a:endParaRPr lang="ko-KR" altLang="en-US" dirty="0"/>
          </a:p>
        </p:txBody>
      </p:sp>
      <p:sp>
        <p:nvSpPr>
          <p:cNvPr id="3" name="텍스트 개체 틀 2">
            <a:extLst>
              <a:ext uri="{FF2B5EF4-FFF2-40B4-BE49-F238E27FC236}">
                <a16:creationId xmlns:a16="http://schemas.microsoft.com/office/drawing/2014/main" id="{C19A6942-84D8-4090-8823-C86F9F594F2B}"/>
              </a:ext>
            </a:extLst>
          </p:cNvPr>
          <p:cNvSpPr>
            <a:spLocks noGrp="1"/>
          </p:cNvSpPr>
          <p:nvPr>
            <p:ph type="body" idx="1"/>
          </p:nvPr>
        </p:nvSpPr>
        <p:spPr/>
        <p:txBody>
          <a:bodyPr>
            <a:normAutofit fontScale="70000" lnSpcReduction="20000"/>
          </a:bodyPr>
          <a:lstStyle/>
          <a:p>
            <a:r>
              <a:rPr lang="en-US" altLang="ko-KR" dirty="0"/>
              <a:t>15. What is the problem if the model performs well in the </a:t>
            </a:r>
            <a:r>
              <a:rPr lang="en-US" altLang="ko-KR" dirty="0" err="1"/>
              <a:t>trainig</a:t>
            </a:r>
            <a:r>
              <a:rPr lang="en-US" altLang="ko-KR" dirty="0"/>
              <a:t> data but generalizes poorly in the new sample? What are the three possible solutions?</a:t>
            </a:r>
          </a:p>
        </p:txBody>
      </p:sp>
      <p:sp>
        <p:nvSpPr>
          <p:cNvPr id="4" name="내용 개체 틀 3">
            <a:extLst>
              <a:ext uri="{FF2B5EF4-FFF2-40B4-BE49-F238E27FC236}">
                <a16:creationId xmlns:a16="http://schemas.microsoft.com/office/drawing/2014/main" id="{CB0A24F8-6CCB-4DA2-BCB0-7247F3EAE79A}"/>
              </a:ext>
            </a:extLst>
          </p:cNvPr>
          <p:cNvSpPr>
            <a:spLocks noGrp="1"/>
          </p:cNvSpPr>
          <p:nvPr>
            <p:ph sz="half" idx="2"/>
          </p:nvPr>
        </p:nvSpPr>
        <p:spPr>
          <a:xfrm>
            <a:off x="839788" y="2505074"/>
            <a:ext cx="5157787" cy="3684587"/>
          </a:xfrm>
        </p:spPr>
        <p:txBody>
          <a:bodyPr>
            <a:normAutofit lnSpcReduction="10000"/>
          </a:bodyPr>
          <a:lstStyle/>
          <a:p>
            <a:r>
              <a:rPr lang="en-US" altLang="ko-KR" b="0" i="0" dirty="0">
                <a:solidFill>
                  <a:srgbClr val="000000"/>
                </a:solidFill>
                <a:effectLst/>
              </a:rPr>
              <a:t>Over-fitting</a:t>
            </a:r>
          </a:p>
          <a:p>
            <a:r>
              <a:rPr lang="en-US" altLang="ko-KR" b="0" i="0" dirty="0">
                <a:solidFill>
                  <a:srgbClr val="000000"/>
                </a:solidFill>
                <a:effectLst/>
                <a:latin typeface="noto"/>
              </a:rPr>
              <a:t>It simplifies by selecting a model with a small number of model parameters, reducing the number of characteristics in training data, or imposing constraints on the model.</a:t>
            </a:r>
          </a:p>
          <a:p>
            <a:r>
              <a:rPr lang="en-US" altLang="ko-KR" dirty="0">
                <a:solidFill>
                  <a:srgbClr val="000000"/>
                </a:solidFill>
                <a:latin typeface="noto"/>
              </a:rPr>
              <a:t>More training data</a:t>
            </a:r>
          </a:p>
          <a:p>
            <a:r>
              <a:rPr lang="en-US" altLang="ko-KR" b="0" i="0" dirty="0">
                <a:solidFill>
                  <a:srgbClr val="000000"/>
                </a:solidFill>
                <a:effectLst/>
                <a:latin typeface="noto"/>
              </a:rPr>
              <a:t>Reduce training data’s noise</a:t>
            </a:r>
            <a:endParaRPr lang="en-US" altLang="ko-KR" b="0" i="0" dirty="0">
              <a:solidFill>
                <a:srgbClr val="000000"/>
              </a:solidFill>
              <a:effectLst/>
            </a:endParaRPr>
          </a:p>
        </p:txBody>
      </p:sp>
      <p:sp>
        <p:nvSpPr>
          <p:cNvPr id="5" name="텍스트 개체 틀 4">
            <a:extLst>
              <a:ext uri="{FF2B5EF4-FFF2-40B4-BE49-F238E27FC236}">
                <a16:creationId xmlns:a16="http://schemas.microsoft.com/office/drawing/2014/main" id="{98E45449-1BD7-4564-A8A2-FD609081E637}"/>
              </a:ext>
            </a:extLst>
          </p:cNvPr>
          <p:cNvSpPr>
            <a:spLocks noGrp="1"/>
          </p:cNvSpPr>
          <p:nvPr>
            <p:ph type="body" sz="quarter" idx="3"/>
          </p:nvPr>
        </p:nvSpPr>
        <p:spPr/>
        <p:txBody>
          <a:bodyPr>
            <a:normAutofit fontScale="70000" lnSpcReduction="20000"/>
          </a:bodyPr>
          <a:lstStyle/>
          <a:p>
            <a:r>
              <a:rPr lang="en-US" altLang="ko-KR" dirty="0"/>
              <a:t>16. What is the test set and why should I use it?</a:t>
            </a:r>
            <a:endParaRPr lang="ko-KR" altLang="en-US" dirty="0"/>
          </a:p>
        </p:txBody>
      </p:sp>
      <p:sp>
        <p:nvSpPr>
          <p:cNvPr id="6" name="내용 개체 틀 5">
            <a:extLst>
              <a:ext uri="{FF2B5EF4-FFF2-40B4-BE49-F238E27FC236}">
                <a16:creationId xmlns:a16="http://schemas.microsoft.com/office/drawing/2014/main" id="{8E721321-27C7-4C68-B626-576CC889C97F}"/>
              </a:ext>
            </a:extLst>
          </p:cNvPr>
          <p:cNvSpPr>
            <a:spLocks noGrp="1"/>
          </p:cNvSpPr>
          <p:nvPr>
            <p:ph sz="quarter" idx="4"/>
          </p:nvPr>
        </p:nvSpPr>
        <p:spPr/>
        <p:txBody>
          <a:bodyPr>
            <a:normAutofit lnSpcReduction="10000"/>
          </a:bodyPr>
          <a:lstStyle/>
          <a:p>
            <a:r>
              <a:rPr lang="en-US" altLang="ko-KR" b="0" i="0" dirty="0">
                <a:solidFill>
                  <a:srgbClr val="000000"/>
                </a:solidFill>
                <a:effectLst/>
              </a:rPr>
              <a:t>To prevent over-fitting</a:t>
            </a:r>
          </a:p>
        </p:txBody>
      </p:sp>
      <p:pic>
        <p:nvPicPr>
          <p:cNvPr id="9" name="그림 8">
            <a:extLst>
              <a:ext uri="{FF2B5EF4-FFF2-40B4-BE49-F238E27FC236}">
                <a16:creationId xmlns:a16="http://schemas.microsoft.com/office/drawing/2014/main" id="{DF9DC30D-B4A3-42A5-8D24-7F3AC9F20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6948095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F3CFF0-EC87-4E23-8B32-15161A93817E}"/>
              </a:ext>
            </a:extLst>
          </p:cNvPr>
          <p:cNvSpPr>
            <a:spLocks noGrp="1"/>
          </p:cNvSpPr>
          <p:nvPr>
            <p:ph type="title"/>
          </p:nvPr>
        </p:nvSpPr>
        <p:spPr/>
        <p:txBody>
          <a:bodyPr/>
          <a:lstStyle/>
          <a:p>
            <a:r>
              <a:rPr lang="en-US" altLang="ko-KR" dirty="0"/>
              <a:t>Practice problem</a:t>
            </a:r>
            <a:endParaRPr lang="ko-KR" altLang="en-US" dirty="0"/>
          </a:p>
        </p:txBody>
      </p:sp>
      <p:sp>
        <p:nvSpPr>
          <p:cNvPr id="3" name="텍스트 개체 틀 2">
            <a:extLst>
              <a:ext uri="{FF2B5EF4-FFF2-40B4-BE49-F238E27FC236}">
                <a16:creationId xmlns:a16="http://schemas.microsoft.com/office/drawing/2014/main" id="{C19A6942-84D8-4090-8823-C86F9F594F2B}"/>
              </a:ext>
            </a:extLst>
          </p:cNvPr>
          <p:cNvSpPr>
            <a:spLocks noGrp="1"/>
          </p:cNvSpPr>
          <p:nvPr>
            <p:ph type="body" idx="1"/>
          </p:nvPr>
        </p:nvSpPr>
        <p:spPr/>
        <p:txBody>
          <a:bodyPr>
            <a:normAutofit fontScale="92500" lnSpcReduction="20000"/>
          </a:bodyPr>
          <a:lstStyle/>
          <a:p>
            <a:r>
              <a:rPr lang="en-US" altLang="ko-KR" dirty="0"/>
              <a:t>17. What is the purpose of the validation set?</a:t>
            </a:r>
          </a:p>
        </p:txBody>
      </p:sp>
      <p:sp>
        <p:nvSpPr>
          <p:cNvPr id="4" name="내용 개체 틀 3">
            <a:extLst>
              <a:ext uri="{FF2B5EF4-FFF2-40B4-BE49-F238E27FC236}">
                <a16:creationId xmlns:a16="http://schemas.microsoft.com/office/drawing/2014/main" id="{CB0A24F8-6CCB-4DA2-BCB0-7247F3EAE79A}"/>
              </a:ext>
            </a:extLst>
          </p:cNvPr>
          <p:cNvSpPr>
            <a:spLocks noGrp="1"/>
          </p:cNvSpPr>
          <p:nvPr>
            <p:ph sz="half" idx="2"/>
          </p:nvPr>
        </p:nvSpPr>
        <p:spPr>
          <a:xfrm>
            <a:off x="839788" y="2505074"/>
            <a:ext cx="5157787" cy="3684587"/>
          </a:xfrm>
        </p:spPr>
        <p:txBody>
          <a:bodyPr>
            <a:normAutofit/>
          </a:bodyPr>
          <a:lstStyle/>
          <a:p>
            <a:r>
              <a:rPr lang="en-US" altLang="ko-KR" b="0" i="0" dirty="0">
                <a:solidFill>
                  <a:srgbClr val="000000"/>
                </a:solidFill>
                <a:effectLst/>
              </a:rPr>
              <a:t>To choose the best model and tune the hyperparameter.</a:t>
            </a:r>
          </a:p>
        </p:txBody>
      </p:sp>
      <p:sp>
        <p:nvSpPr>
          <p:cNvPr id="5" name="텍스트 개체 틀 4">
            <a:extLst>
              <a:ext uri="{FF2B5EF4-FFF2-40B4-BE49-F238E27FC236}">
                <a16:creationId xmlns:a16="http://schemas.microsoft.com/office/drawing/2014/main" id="{98E45449-1BD7-4564-A8A2-FD609081E637}"/>
              </a:ext>
            </a:extLst>
          </p:cNvPr>
          <p:cNvSpPr>
            <a:spLocks noGrp="1"/>
          </p:cNvSpPr>
          <p:nvPr>
            <p:ph type="body" sz="quarter" idx="3"/>
          </p:nvPr>
        </p:nvSpPr>
        <p:spPr/>
        <p:txBody>
          <a:bodyPr>
            <a:normAutofit fontScale="92500" lnSpcReduction="20000"/>
          </a:bodyPr>
          <a:lstStyle/>
          <a:p>
            <a:r>
              <a:rPr lang="en-US" altLang="ko-KR" dirty="0"/>
              <a:t>18. What is a training-development set? When do I need it and how do I use it?</a:t>
            </a:r>
            <a:endParaRPr lang="ko-KR" altLang="en-US" dirty="0"/>
          </a:p>
        </p:txBody>
      </p:sp>
      <p:sp>
        <p:nvSpPr>
          <p:cNvPr id="6" name="내용 개체 틀 5">
            <a:extLst>
              <a:ext uri="{FF2B5EF4-FFF2-40B4-BE49-F238E27FC236}">
                <a16:creationId xmlns:a16="http://schemas.microsoft.com/office/drawing/2014/main" id="{8E721321-27C7-4C68-B626-576CC889C97F}"/>
              </a:ext>
            </a:extLst>
          </p:cNvPr>
          <p:cNvSpPr>
            <a:spLocks noGrp="1"/>
          </p:cNvSpPr>
          <p:nvPr>
            <p:ph sz="quarter" idx="4"/>
          </p:nvPr>
        </p:nvSpPr>
        <p:spPr/>
        <p:txBody>
          <a:bodyPr>
            <a:normAutofit/>
          </a:bodyPr>
          <a:lstStyle/>
          <a:p>
            <a:r>
              <a:rPr lang="en-US" altLang="ko-KR" b="0" i="0" dirty="0">
                <a:solidFill>
                  <a:srgbClr val="000000"/>
                </a:solidFill>
                <a:effectLst/>
              </a:rPr>
              <a:t>It is to separate part of the training set and create another one.</a:t>
            </a:r>
          </a:p>
          <a:p>
            <a:r>
              <a:rPr lang="en-US" altLang="ko-KR" dirty="0">
                <a:solidFill>
                  <a:srgbClr val="000000"/>
                </a:solidFill>
              </a:rPr>
              <a:t>When a data mismatch occurs.</a:t>
            </a:r>
          </a:p>
          <a:p>
            <a:endParaRPr lang="en-US" altLang="ko-KR" b="0" i="0" dirty="0">
              <a:solidFill>
                <a:srgbClr val="000000"/>
              </a:solidFill>
              <a:effectLst/>
            </a:endParaRPr>
          </a:p>
        </p:txBody>
      </p:sp>
      <p:pic>
        <p:nvPicPr>
          <p:cNvPr id="9" name="그림 8">
            <a:extLst>
              <a:ext uri="{FF2B5EF4-FFF2-40B4-BE49-F238E27FC236}">
                <a16:creationId xmlns:a16="http://schemas.microsoft.com/office/drawing/2014/main" id="{DF9DC30D-B4A3-42A5-8D24-7F3AC9F20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6218423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BF3CFF0-EC87-4E23-8B32-15161A93817E}"/>
              </a:ext>
            </a:extLst>
          </p:cNvPr>
          <p:cNvSpPr>
            <a:spLocks noGrp="1"/>
          </p:cNvSpPr>
          <p:nvPr>
            <p:ph type="title"/>
          </p:nvPr>
        </p:nvSpPr>
        <p:spPr/>
        <p:txBody>
          <a:bodyPr/>
          <a:lstStyle/>
          <a:p>
            <a:r>
              <a:rPr lang="en-US" altLang="ko-KR" dirty="0"/>
              <a:t>Practice problem</a:t>
            </a:r>
            <a:endParaRPr lang="ko-KR" altLang="en-US" dirty="0"/>
          </a:p>
        </p:txBody>
      </p:sp>
      <p:sp>
        <p:nvSpPr>
          <p:cNvPr id="3" name="텍스트 개체 틀 2">
            <a:extLst>
              <a:ext uri="{FF2B5EF4-FFF2-40B4-BE49-F238E27FC236}">
                <a16:creationId xmlns:a16="http://schemas.microsoft.com/office/drawing/2014/main" id="{C19A6942-84D8-4090-8823-C86F9F594F2B}"/>
              </a:ext>
            </a:extLst>
          </p:cNvPr>
          <p:cNvSpPr>
            <a:spLocks noGrp="1"/>
          </p:cNvSpPr>
          <p:nvPr>
            <p:ph type="body" idx="1"/>
          </p:nvPr>
        </p:nvSpPr>
        <p:spPr/>
        <p:txBody>
          <a:bodyPr>
            <a:normAutofit fontScale="92500" lnSpcReduction="20000"/>
          </a:bodyPr>
          <a:lstStyle/>
          <a:p>
            <a:r>
              <a:rPr lang="en-US" altLang="ko-KR" dirty="0"/>
              <a:t>19. What is the problem with tuning the hyper parameter using the test set?</a:t>
            </a:r>
          </a:p>
        </p:txBody>
      </p:sp>
      <p:sp>
        <p:nvSpPr>
          <p:cNvPr id="4" name="내용 개체 틀 3">
            <a:extLst>
              <a:ext uri="{FF2B5EF4-FFF2-40B4-BE49-F238E27FC236}">
                <a16:creationId xmlns:a16="http://schemas.microsoft.com/office/drawing/2014/main" id="{CB0A24F8-6CCB-4DA2-BCB0-7247F3EAE79A}"/>
              </a:ext>
            </a:extLst>
          </p:cNvPr>
          <p:cNvSpPr>
            <a:spLocks noGrp="1"/>
          </p:cNvSpPr>
          <p:nvPr>
            <p:ph sz="half" idx="2"/>
          </p:nvPr>
        </p:nvSpPr>
        <p:spPr>
          <a:xfrm>
            <a:off x="839788" y="2505074"/>
            <a:ext cx="5157787" cy="3684587"/>
          </a:xfrm>
        </p:spPr>
        <p:txBody>
          <a:bodyPr>
            <a:normAutofit/>
          </a:bodyPr>
          <a:lstStyle/>
          <a:p>
            <a:r>
              <a:rPr lang="en-US" altLang="ko-KR" dirty="0">
                <a:solidFill>
                  <a:srgbClr val="000000"/>
                </a:solidFill>
              </a:rPr>
              <a:t>Hyperparameters create models optimized for test sets.</a:t>
            </a:r>
            <a:endParaRPr lang="en-US" altLang="ko-KR" b="0" i="0" dirty="0">
              <a:solidFill>
                <a:srgbClr val="000000"/>
              </a:solidFill>
              <a:effectLst/>
            </a:endParaRPr>
          </a:p>
        </p:txBody>
      </p:sp>
      <p:pic>
        <p:nvPicPr>
          <p:cNvPr id="9" name="그림 8">
            <a:extLst>
              <a:ext uri="{FF2B5EF4-FFF2-40B4-BE49-F238E27FC236}">
                <a16:creationId xmlns:a16="http://schemas.microsoft.com/office/drawing/2014/main" id="{DF9DC30D-B4A3-42A5-8D24-7F3AC9F208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45867641"/>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468</TotalTime>
  <Words>1737</Words>
  <Application>Microsoft Office PowerPoint</Application>
  <PresentationFormat>와이드스크린</PresentationFormat>
  <Paragraphs>194</Paragraphs>
  <Slides>34</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34</vt:i4>
      </vt:variant>
    </vt:vector>
  </HeadingPairs>
  <TitlesOfParts>
    <vt:vector size="38" baseType="lpstr">
      <vt:lpstr>noto</vt:lpstr>
      <vt:lpstr>맑은 고딕</vt:lpstr>
      <vt:lpstr>Arial</vt:lpstr>
      <vt:lpstr>Office 테마</vt:lpstr>
      <vt:lpstr>Machine Learning</vt:lpstr>
      <vt:lpstr>Machine Learning’s definition</vt:lpstr>
      <vt:lpstr>Why using Machine Learning</vt:lpstr>
      <vt:lpstr>Application example</vt:lpstr>
      <vt:lpstr>Types of Machine Learning Systems</vt:lpstr>
      <vt:lpstr>Supervised Learning</vt:lpstr>
      <vt:lpstr>Supervised Learning algorithms</vt:lpstr>
      <vt:lpstr>Unsupervised Learning</vt:lpstr>
      <vt:lpstr>Unsupervised Learning</vt:lpstr>
      <vt:lpstr>Semi-supervised learning</vt:lpstr>
      <vt:lpstr>Reinforcement learning</vt:lpstr>
      <vt:lpstr>Batch learning</vt:lpstr>
      <vt:lpstr>Online learning</vt:lpstr>
      <vt:lpstr>Case-based learning</vt:lpstr>
      <vt:lpstr>Model-based learning</vt:lpstr>
      <vt:lpstr>Model-based learning procedure</vt:lpstr>
      <vt:lpstr>Key challenges in Machine Learning</vt:lpstr>
      <vt:lpstr>Not enough training data</vt:lpstr>
      <vt:lpstr>Unrepresentative training data</vt:lpstr>
      <vt:lpstr>Low quality data</vt:lpstr>
      <vt:lpstr>Irrelavant training data</vt:lpstr>
      <vt:lpstr>Over-fitting</vt:lpstr>
      <vt:lpstr>Under-fitting</vt:lpstr>
      <vt:lpstr>Test and Validation</vt:lpstr>
      <vt:lpstr>Practice problem</vt:lpstr>
      <vt:lpstr>Practice problem</vt:lpstr>
      <vt:lpstr>Practice problem</vt:lpstr>
      <vt:lpstr>Practice problem</vt:lpstr>
      <vt:lpstr>Practice problem</vt:lpstr>
      <vt:lpstr>Practice problem</vt:lpstr>
      <vt:lpstr>Practice problem</vt:lpstr>
      <vt:lpstr>Practice problem</vt:lpstr>
      <vt:lpstr>Practice problem</vt:lpstr>
      <vt:lpstr>Practice problem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신 주영</dc:creator>
  <cp:lastModifiedBy>신 주영</cp:lastModifiedBy>
  <cp:revision>44</cp:revision>
  <dcterms:created xsi:type="dcterms:W3CDTF">2022-04-17T05:50:37Z</dcterms:created>
  <dcterms:modified xsi:type="dcterms:W3CDTF">2022-04-18T05:08:29Z</dcterms:modified>
</cp:coreProperties>
</file>